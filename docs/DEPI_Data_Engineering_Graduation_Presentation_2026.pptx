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8" r:id="rId3"/>
    <p:sldId id="259" r:id="rId4"/>
    <p:sldId id="262" r:id="rId5"/>
    <p:sldId id="263" r:id="rId6"/>
    <p:sldId id="278" r:id="rId7"/>
    <p:sldId id="264" r:id="rId8"/>
    <p:sldId id="282" r:id="rId9"/>
    <p:sldId id="285" r:id="rId10"/>
    <p:sldId id="260" r:id="rId11"/>
    <p:sldId id="283" r:id="rId12"/>
    <p:sldId id="293" r:id="rId13"/>
    <p:sldId id="265" r:id="rId14"/>
    <p:sldId id="294" r:id="rId15"/>
    <p:sldId id="267" r:id="rId16"/>
    <p:sldId id="261" r:id="rId17"/>
    <p:sldId id="268" r:id="rId18"/>
    <p:sldId id="271" r:id="rId19"/>
    <p:sldId id="272" r:id="rId20"/>
    <p:sldId id="274" r:id="rId21"/>
    <p:sldId id="275" r:id="rId22"/>
    <p:sldId id="276" r:id="rId23"/>
    <p:sldId id="277" r:id="rId24"/>
    <p:sldId id="284" r:id="rId25"/>
    <p:sldId id="279" r:id="rId26"/>
    <p:sldId id="280" r:id="rId27"/>
    <p:sldId id="297" r:id="rId28"/>
    <p:sldId id="281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5" r:id="rId37"/>
    <p:sldId id="296" r:id="rId38"/>
    <p:sldId id="299" r:id="rId39"/>
    <p:sldId id="300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BF00"/>
    <a:srgbClr val="F7C948"/>
    <a:srgbClr val="2A2A2A"/>
    <a:srgbClr val="D09E00"/>
    <a:srgbClr val="3F3A2D"/>
    <a:srgbClr val="110D0D"/>
    <a:srgbClr val="DAA600"/>
    <a:srgbClr val="E9B844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154" autoAdjust="0"/>
  </p:normalViewPr>
  <p:slideViewPr>
    <p:cSldViewPr snapToGrid="0" snapToObjects="1">
      <p:cViewPr varScale="1">
        <p:scale>
          <a:sx n="131" d="100"/>
          <a:sy n="131" d="100"/>
        </p:scale>
        <p:origin x="7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94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5B091-6000-BBB1-E894-289C6A5A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C4AF0-97A4-AA98-893F-7CD5561C8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7F629-AEB6-8452-8B75-CC5380530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C6A0A-5572-0928-441E-146A1BE3FB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8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40D5B-932F-8DAC-3254-86B028D30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98922-722D-4068-7C11-FD5213714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3BD3A-1D5E-772F-96B0-8DAC60005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A5670-CC7D-E406-5A34-0061F76A0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54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91F18-9C95-7AAF-B710-787D5052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06AEF-0A98-006E-533C-E920E4BB6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E3B30-5EB9-8737-ABF2-09FC72D1A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F33A0-D30C-C5F4-76DE-B6B44C6E6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95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6B878-0A11-A9A9-6C7C-9B453643C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271A1-9DF9-9FC9-7640-686F46E22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ED32B-3855-00AB-2B26-824027BF2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36819-B722-85DA-B923-52F6AFE5F7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91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639B1-9EF2-F6C2-F45B-37316BD3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1819D-220B-A8AE-F006-B65F0D40B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7D838-738F-80E0-9782-D32FF8E0F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8FD3F-D790-7E15-BF48-783A06F14B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36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711E4-6E8C-1285-77F7-9B9548952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E6D03-044D-D6D1-E5ED-E5A59F53B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3EEEF-7E6D-15A2-A790-1D33543C5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95A6B-ED49-E8F1-15B8-C39137648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31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21584-7034-6E75-63D5-092CDF01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6BA8A-0D8B-56FD-8F1F-3EE061E95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503F2-E2DE-CBFE-E426-5B0A9D9D5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7581A-CF2F-9900-AEC9-7D8289CFB0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909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62346-DCA7-D84A-A34D-2E260AA2F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DAC80-B6E9-3B66-2160-4D51A5A65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3F124-1922-C4A9-DC5A-C1133BBC8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47C12-8814-15DB-3403-5F9989DA2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50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DE33C-CCDA-0D33-530A-B5732864F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D584C-E794-4084-DB30-146E5A33D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8A732-77B3-0175-9DC8-96B486C3B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661E0-3C29-67DD-8CEF-FD59EF600F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335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26FD4-CB28-6C17-5AD9-B43573BD0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FE26D-D2EC-C254-8798-AF228796A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41EDC-62CA-97AE-BC58-A2F0BFC90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E704A-30FC-E9A9-2E52-27AF9B1368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977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06586-1CED-67DE-A8AB-76A3716A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8378A-0136-5866-FC1B-BAD1571E9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0648A-2654-5457-DEDA-1841626B4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96C5D-4983-E9F7-59AA-115B9CD03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803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2ACDA-5044-9D89-6023-E22BD6C6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C95C7B-6043-55BB-4A53-E8F963F3C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DD2FA-B360-C2D3-B7BB-41478C137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9CDC6-349C-358B-F63C-3D6FCAB898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172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7CF9-E5DC-6B9E-5FD9-423270D9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B5807-434E-3310-3531-E59C60AD6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894E9-E4D7-A85B-2594-173C43065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F74C0-DD94-6D98-ACD5-C2CD8D57AF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107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60070-24EC-3EDD-DF06-C16E943A5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58FC6-CFF0-F7FE-7C66-2D45C28D1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A3CC7-6B45-591C-B762-38D720BD2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A75A9-17CC-21EE-7429-2075A34B5E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326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33285-216F-871A-897C-84669FF85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3B14E-DE62-397A-2C61-B1E0BC67C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4C42F-079E-B086-8758-B33A0D57F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6A5E6-0A49-474D-803F-C389DE9BD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236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39A65-910A-BF53-92AA-211B9568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31FE1-B144-8BD7-5A97-C837E044D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6F903-0575-6AAE-6314-5DCF7B256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65F67-B36E-11D4-C877-FC5CB242E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612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1DFF-BDDF-6B78-DAC8-AEA9887F2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C7A0F-640C-CC72-82C1-160DED8C9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F6DB9-0529-4370-DB9F-05DC1DBD7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A7F8A-7356-85C2-EC85-ED7CDDD0F3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766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AC309-4D5E-8E72-1790-15652A45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B9449-D9E5-3512-9656-E2E311715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668A2-9B07-7F39-35F8-43D3B4313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D8107-F78E-EE3D-B1E7-5F8B42CBD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48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FDBF3-A6EC-5C56-48E5-59A5BA110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7D311-FD11-1201-C77F-505770B94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EBA9E-A303-14C6-6C0A-E9F09A9B6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B17F3-DE8B-2B1E-E480-5002B3CF74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667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13759-EFF1-FBE7-6A65-9B2E243C4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A4A86-BC48-3A78-8442-FA16BC21C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459F1-99F5-7C26-878E-8F1D6C861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C99DC-5DA5-A915-4CC6-C3662F6463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869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266B9-A71F-2D44-CB77-BD12DD9F3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30555-7185-96A1-5506-3E15203A0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88C59-FCEA-0037-2E76-3E06E2FB4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422E5-C778-E84A-08E2-C86971D8ED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817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1157B-1CE1-4B64-640A-C87D022E3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B9628-C23B-1AAE-50EA-4D15D02C4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246E4-47AC-84DF-F586-A976344D1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C0BC0-EFC6-CFBD-4BE7-BF1A464FB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259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26C64-849C-C9AA-CA40-19E11EB1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0F6E5-04AB-948F-361F-54E4239C5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642CD-23BA-AABA-BC88-C6F56C3A3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4C538-1DD6-311A-2D82-EBCDF72B4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502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11DE6-EA74-DF54-0E93-8AD21618A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88605-65C4-BB9E-48EF-D720785DE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3EFE3-4F42-5F06-18E3-88D4FDADA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665FC-40BE-F595-D3DD-04CE569FC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293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B83BA-4463-5945-99BF-D354F6EEC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0CD78-3BBF-9EED-DD56-5D3147593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77ED3-62DF-FDF0-54CB-854C72F56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C9A96-E9BF-232C-D85C-5EDE8435F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087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5816-BBBD-2BFD-D9DF-A90D9A0A8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E480D-1286-177F-0EE7-AE5435335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4259D-B00A-C9A3-F176-D492478E3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FDFCB-4483-69AA-4375-A96A9841D3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017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63307-403C-D443-DE9D-EEF2250D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14A15-6FE5-715F-5A46-5DC5F57FD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CC53CB-72FA-9A7F-4E28-FAF347E96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5B4E4-EA61-9064-3895-4B31881060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972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5B58-9D12-3768-60BB-985384885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6040F-C89E-B39A-10D0-E3EBC5ED5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65C70-057D-3C27-EBC0-9D4D4E9A4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74D09-6DF7-B528-AD9D-BA1E7FF949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38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11" Type="http://schemas.openxmlformats.org/officeDocument/2006/relationships/slide" Target="slide21.xml"/><Relationship Id="rId5" Type="http://schemas.openxmlformats.org/officeDocument/2006/relationships/image" Target="../media/image210.png"/><Relationship Id="rId10" Type="http://schemas.openxmlformats.org/officeDocument/2006/relationships/image" Target="../media/image5.png"/><Relationship Id="rId4" Type="http://schemas.openxmlformats.org/officeDocument/2006/relationships/slide" Target="slide19.xml"/><Relationship Id="rId9" Type="http://schemas.openxmlformats.org/officeDocument/2006/relationships/image" Target="../media/image4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.png"/><Relationship Id="rId7" Type="http://schemas.openxmlformats.org/officeDocument/2006/relationships/slide" Target="slide3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8.png"/><Relationship Id="rId5" Type="http://schemas.openxmlformats.org/officeDocument/2006/relationships/image" Target="../media/image1.jpg"/><Relationship Id="rId10" Type="http://schemas.openxmlformats.org/officeDocument/2006/relationships/slide" Target="slide39.xml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90.png"/><Relationship Id="rId3" Type="http://schemas.openxmlformats.org/officeDocument/2006/relationships/image" Target="../media/image1.jpg"/><Relationship Id="rId7" Type="http://schemas.openxmlformats.org/officeDocument/2006/relationships/image" Target="../media/image10.png"/><Relationship Id="rId12" Type="http://schemas.openxmlformats.org/officeDocument/2006/relationships/slide" Target="slide2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12.png"/><Relationship Id="rId5" Type="http://schemas.openxmlformats.org/officeDocument/2006/relationships/slide" Target="slide22.xml"/><Relationship Id="rId10" Type="http://schemas.openxmlformats.org/officeDocument/2006/relationships/image" Target="../media/image80.png"/><Relationship Id="rId4" Type="http://schemas.openxmlformats.org/officeDocument/2006/relationships/image" Target="../media/image9.png"/><Relationship Id="rId9" Type="http://schemas.openxmlformats.org/officeDocument/2006/relationships/slide" Target="slide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40.png"/><Relationship Id="rId3" Type="http://schemas.openxmlformats.org/officeDocument/2006/relationships/image" Target="../media/image13.png"/><Relationship Id="rId7" Type="http://schemas.openxmlformats.org/officeDocument/2006/relationships/image" Target="../media/image120.png"/><Relationship Id="rId12" Type="http://schemas.openxmlformats.org/officeDocument/2006/relationships/slide" Target="slide27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5.xml"/><Relationship Id="rId11" Type="http://schemas.openxmlformats.org/officeDocument/2006/relationships/image" Target="../media/image16.png"/><Relationship Id="rId5" Type="http://schemas.openxmlformats.org/officeDocument/2006/relationships/image" Target="../media/image14.png"/><Relationship Id="rId15" Type="http://schemas.openxmlformats.org/officeDocument/2006/relationships/slide" Target="slide26.xml"/><Relationship Id="rId10" Type="http://schemas.openxmlformats.org/officeDocument/2006/relationships/image" Target="../media/image130.png"/><Relationship Id="rId4" Type="http://schemas.openxmlformats.org/officeDocument/2006/relationships/image" Target="../media/image1.jpg"/><Relationship Id="rId9" Type="http://schemas.openxmlformats.org/officeDocument/2006/relationships/slide" Target="slide28.xml"/><Relationship Id="rId1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8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slide" Target="slide34.xml"/><Relationship Id="rId5" Type="http://schemas.openxmlformats.org/officeDocument/2006/relationships/image" Target="../media/image18.png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image" Target="../media/image22.png"/><Relationship Id="rId18" Type="http://schemas.openxmlformats.org/officeDocument/2006/relationships/image" Target="../media/image170.png"/><Relationship Id="rId3" Type="http://schemas.openxmlformats.org/officeDocument/2006/relationships/image" Target="../media/image1.jpg"/><Relationship Id="rId7" Type="http://schemas.openxmlformats.org/officeDocument/2006/relationships/image" Target="../media/image20.png"/><Relationship Id="rId12" Type="http://schemas.openxmlformats.org/officeDocument/2006/relationships/image" Target="../media/image150.png"/><Relationship Id="rId17" Type="http://schemas.openxmlformats.org/officeDocument/2006/relationships/slide" Target="slide33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slide" Target="slide31.xml"/><Relationship Id="rId5" Type="http://schemas.openxmlformats.org/officeDocument/2006/relationships/slide" Target="slide29.xml"/><Relationship Id="rId15" Type="http://schemas.openxmlformats.org/officeDocument/2006/relationships/image" Target="../media/image160.pn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20.png"/><Relationship Id="rId14" Type="http://schemas.openxmlformats.org/officeDocument/2006/relationships/slide" Target="slide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5" Type="http://schemas.openxmlformats.org/officeDocument/2006/relationships/slide" Target="slide34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slide" Target="slide36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1.png"/><Relationship Id="rId5" Type="http://schemas.openxmlformats.org/officeDocument/2006/relationships/slide" Target="slide37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hyperlink" Target="https://lamiaa-dardeer.github.io/DEPI_Data_Engineering_Graduation_Project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96">
            <a:extLst>
              <a:ext uri="{FF2B5EF4-FFF2-40B4-BE49-F238E27FC236}">
                <a16:creationId xmlns:a16="http://schemas.microsoft.com/office/drawing/2014/main" id="{D8969BA4-F4CB-714D-16A7-2F98DDB6FFC2}"/>
              </a:ext>
            </a:extLst>
          </p:cNvPr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66">
            <a:extLst>
              <a:ext uri="{FF2B5EF4-FFF2-40B4-BE49-F238E27FC236}">
                <a16:creationId xmlns:a16="http://schemas.microsoft.com/office/drawing/2014/main" id="{4A0BA37C-E2E2-8249-BEE9-077362E8AF11}"/>
              </a:ext>
            </a:extLst>
          </p:cNvPr>
          <p:cNvSpPr/>
          <p:nvPr/>
        </p:nvSpPr>
        <p:spPr>
          <a:xfrm>
            <a:off x="18687" y="-42539"/>
            <a:ext cx="7461504" cy="73152"/>
          </a:xfrm>
          <a:prstGeom prst="rect">
            <a:avLst/>
          </a:prstGeom>
          <a:solidFill>
            <a:srgbClr val="F7C948">
              <a:alpha val="3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57200" y="4572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with</a:t>
            </a:r>
            <a:endParaRPr lang="en-US" sz="2000" dirty="0"/>
          </a:p>
        </p:txBody>
      </p:sp>
      <p:sp>
        <p:nvSpPr>
          <p:cNvPr id="85" name="Text 83"/>
          <p:cNvSpPr/>
          <p:nvPr/>
        </p:nvSpPr>
        <p:spPr>
          <a:xfrm>
            <a:off x="457200" y="1115568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B8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&amp; BigQuery</a:t>
            </a:r>
            <a:endParaRPr lang="en-US" sz="3200" dirty="0">
              <a:solidFill>
                <a:srgbClr val="E9B844"/>
              </a:solidFill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FF0DBAF-C124-74D1-7100-83BA9B3473F6}"/>
              </a:ext>
            </a:extLst>
          </p:cNvPr>
          <p:cNvGrpSpPr/>
          <p:nvPr/>
        </p:nvGrpSpPr>
        <p:grpSpPr>
          <a:xfrm>
            <a:off x="283464" y="4393692"/>
            <a:ext cx="8577072" cy="292608"/>
            <a:chOff x="307316" y="4393692"/>
            <a:chExt cx="8577072" cy="292608"/>
          </a:xfrm>
        </p:grpSpPr>
        <p:sp>
          <p:nvSpPr>
            <p:cNvPr id="103" name="Text 101"/>
            <p:cNvSpPr/>
            <p:nvPr/>
          </p:nvSpPr>
          <p:spPr>
            <a:xfrm>
              <a:off x="307316" y="4393692"/>
              <a:ext cx="16276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7C948"/>
                  </a:solidFill>
                </a:rPr>
                <a:t>Milestone 1: Ingestion</a:t>
              </a:r>
              <a:endParaRPr lang="en-US" sz="800" dirty="0"/>
            </a:p>
          </p:txBody>
        </p:sp>
        <p:sp>
          <p:nvSpPr>
            <p:cNvPr id="105" name="Text 103"/>
            <p:cNvSpPr/>
            <p:nvPr/>
          </p:nvSpPr>
          <p:spPr>
            <a:xfrm>
              <a:off x="2044676" y="4393692"/>
              <a:ext cx="16276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7C948"/>
                  </a:solidFill>
                </a:rPr>
                <a:t>Milestone 2: dbt Models</a:t>
              </a:r>
              <a:endParaRPr lang="en-US" sz="800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3782036" y="4393692"/>
              <a:ext cx="16276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7C948"/>
                  </a:solidFill>
                </a:rPr>
                <a:t>Milestone 3: CI/CD</a:t>
              </a:r>
              <a:endParaRPr lang="en-US" sz="800" dirty="0"/>
            </a:p>
          </p:txBody>
        </p:sp>
        <p:sp>
          <p:nvSpPr>
            <p:cNvPr id="109" name="Text 107"/>
            <p:cNvSpPr/>
            <p:nvPr/>
          </p:nvSpPr>
          <p:spPr>
            <a:xfrm>
              <a:off x="5519396" y="4393692"/>
              <a:ext cx="16276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7C948"/>
                  </a:solidFill>
                </a:rPr>
                <a:t>Milestone 4: MLOps</a:t>
              </a:r>
              <a:endParaRPr lang="en-US" sz="800" dirty="0"/>
            </a:p>
          </p:txBody>
        </p:sp>
        <p:sp>
          <p:nvSpPr>
            <p:cNvPr id="111" name="Text 109"/>
            <p:cNvSpPr/>
            <p:nvPr/>
          </p:nvSpPr>
          <p:spPr>
            <a:xfrm>
              <a:off x="7256756" y="4393692"/>
              <a:ext cx="16276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7C948"/>
                  </a:solidFill>
                </a:rPr>
                <a:t>Milestone 5: Docs &amp; Demo</a:t>
              </a:r>
              <a:endParaRPr lang="en-US" sz="800" dirty="0"/>
            </a:p>
          </p:txBody>
        </p:sp>
      </p:grpSp>
      <p:sp>
        <p:nvSpPr>
          <p:cNvPr id="82" name="Shape 80"/>
          <p:cNvSpPr/>
          <p:nvPr/>
        </p:nvSpPr>
        <p:spPr>
          <a:xfrm>
            <a:off x="7318381" y="-907542"/>
            <a:ext cx="3200400" cy="3200400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855889" y="-541782"/>
            <a:ext cx="2286000" cy="2286000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3F3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Yello-black">
            <a:extLst>
              <a:ext uri="{FF2B5EF4-FFF2-40B4-BE49-F238E27FC236}">
                <a16:creationId xmlns:a16="http://schemas.microsoft.com/office/drawing/2014/main" id="{242618FB-1806-41A8-B76D-9F69C30C231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5109484"/>
            <a:ext cx="9392168" cy="34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482D45-B0CC-055B-8868-1020EF2A26B2}"/>
              </a:ext>
            </a:extLst>
          </p:cNvPr>
          <p:cNvSpPr txBox="1"/>
          <p:nvPr/>
        </p:nvSpPr>
        <p:spPr>
          <a:xfrm>
            <a:off x="1911096" y="3564820"/>
            <a:ext cx="53252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NYC 311 Service Requests  ·  Data Engineering Graduation Project  ·  DEPI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00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— Five Milestones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C948"/>
                </a:solidFill>
              </a:rPr>
              <a:t>End-to-end data pipeline for NYC 311 citizen service requests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" y="114300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21233" y="1143000"/>
            <a:ext cx="594360" cy="658368"/>
          </a:xfrm>
          <a:prstGeom prst="rect">
            <a:avLst/>
          </a:prstGeom>
          <a:solidFill>
            <a:srgbClr val="FBBF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endParaRPr lang="ar-EG" b="1" dirty="0">
              <a:solidFill>
                <a:schemeClr val="tx1"/>
              </a:solidFill>
            </a:endParaRPr>
          </a:p>
          <a:p>
            <a:pPr algn="ctr"/>
            <a:r>
              <a:rPr lang="ar-EG" b="1" dirty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4" name="Text 62"/>
          <p:cNvSpPr/>
          <p:nvPr/>
        </p:nvSpPr>
        <p:spPr>
          <a:xfrm>
            <a:off x="1024128" y="1207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</a:rPr>
              <a:t>Data Collection &amp; Ingestion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024128" y="15087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20040" y="1892808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20040" y="1892808"/>
            <a:ext cx="594360" cy="658368"/>
          </a:xfrm>
          <a:prstGeom prst="rect">
            <a:avLst/>
          </a:prstGeom>
          <a:solidFill>
            <a:srgbClr val="FBBF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endParaRPr lang="ar-EG" b="1" dirty="0">
              <a:solidFill>
                <a:schemeClr val="tx1"/>
              </a:solidFill>
            </a:endParaRPr>
          </a:p>
          <a:p>
            <a:pPr algn="ctr"/>
            <a:r>
              <a:rPr lang="ar-EG" b="1" dirty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1024128" y="1956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</a:rPr>
              <a:t>dbt Model Development &amp; Testing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024128" y="22585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20040" y="2642616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20040" y="2642616"/>
            <a:ext cx="594360" cy="658368"/>
          </a:xfrm>
          <a:prstGeom prst="rect">
            <a:avLst/>
          </a:prstGeom>
          <a:solidFill>
            <a:srgbClr val="FBBF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ar-EG" sz="1600" b="1" dirty="0">
              <a:solidFill>
                <a:srgbClr val="0D0D0D"/>
              </a:solidFill>
              <a:latin typeface="Cambria" pitchFamily="34" charset="0"/>
              <a:ea typeface="Cambria" pitchFamily="34" charset="-122"/>
            </a:endParaRPr>
          </a:p>
          <a:p>
            <a:pPr algn="ctr"/>
            <a:r>
              <a:rPr lang="ar-EG" b="1" dirty="0">
                <a:solidFill>
                  <a:schemeClr val="tx1"/>
                </a:solidFill>
              </a:rPr>
              <a:t>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6" name="Text 74"/>
          <p:cNvSpPr/>
          <p:nvPr/>
        </p:nvSpPr>
        <p:spPr>
          <a:xfrm>
            <a:off x="1024128" y="27066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</a:rPr>
              <a:t>CI/CD Deployment (Batch Scheduled)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1024128" y="30083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20040" y="3392424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20040" y="3392424"/>
            <a:ext cx="594360" cy="658368"/>
          </a:xfrm>
          <a:prstGeom prst="rect">
            <a:avLst/>
          </a:prstGeom>
          <a:solidFill>
            <a:srgbClr val="FBBF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ar-EG" sz="1600" b="1" dirty="0">
              <a:solidFill>
                <a:srgbClr val="0D0D0D"/>
              </a:solidFill>
              <a:latin typeface="Cambria" pitchFamily="34" charset="0"/>
              <a:ea typeface="Cambria" pitchFamily="34" charset="-122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2" name="Text 80"/>
          <p:cNvSpPr/>
          <p:nvPr/>
        </p:nvSpPr>
        <p:spPr>
          <a:xfrm>
            <a:off x="1024128" y="3456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</a:rPr>
              <a:t>MLOps — Monitoring &amp; Automation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1024128" y="37581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20040" y="4142232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320040" y="4142232"/>
            <a:ext cx="594360" cy="658368"/>
          </a:xfrm>
          <a:prstGeom prst="rect">
            <a:avLst/>
          </a:prstGeom>
          <a:solidFill>
            <a:srgbClr val="FBBF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ar-EG" sz="1600" b="1" dirty="0">
              <a:solidFill>
                <a:srgbClr val="0D0D0D"/>
              </a:solidFill>
              <a:latin typeface="Cambria" pitchFamily="34" charset="0"/>
              <a:ea typeface="Cambria" pitchFamily="34" charset="-122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8" name="Text 86"/>
          <p:cNvSpPr/>
          <p:nvPr/>
        </p:nvSpPr>
        <p:spPr>
          <a:xfrm>
            <a:off x="1024128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</a:rPr>
              <a:t>Documentation, Demo &amp; Presentation</a:t>
            </a:r>
            <a:endParaRPr lang="en-US" sz="1300" dirty="0"/>
          </a:p>
        </p:txBody>
      </p:sp>
      <p:grpSp>
        <p:nvGrpSpPr>
          <p:cNvPr id="91" name="Group 90" hidden="1">
            <a:extLst>
              <a:ext uri="{FF2B5EF4-FFF2-40B4-BE49-F238E27FC236}">
                <a16:creationId xmlns:a16="http://schemas.microsoft.com/office/drawing/2014/main" id="{7E2F7DA1-2CE8-B7BC-4EB1-5B0D323278D9}"/>
              </a:ext>
            </a:extLst>
          </p:cNvPr>
          <p:cNvGrpSpPr/>
          <p:nvPr/>
        </p:nvGrpSpPr>
        <p:grpSpPr>
          <a:xfrm flipV="1">
            <a:off x="0" y="941832"/>
            <a:ext cx="9217152" cy="18288"/>
            <a:chOff x="0" y="795528"/>
            <a:chExt cx="9217152" cy="164592"/>
          </a:xfrm>
        </p:grpSpPr>
        <p:sp>
          <p:nvSpPr>
            <p:cNvPr id="92" name="Shape 1">
              <a:extLst>
                <a:ext uri="{FF2B5EF4-FFF2-40B4-BE49-F238E27FC236}">
                  <a16:creationId xmlns:a16="http://schemas.microsoft.com/office/drawing/2014/main" id="{0A6DC45D-5A3C-2CBB-D622-493C015C3869}"/>
                </a:ext>
              </a:extLst>
            </p:cNvPr>
            <p:cNvSpPr/>
            <p:nvPr/>
          </p:nvSpPr>
          <p:spPr>
            <a:xfrm>
              <a:off x="0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Shape 2">
              <a:extLst>
                <a:ext uri="{FF2B5EF4-FFF2-40B4-BE49-F238E27FC236}">
                  <a16:creationId xmlns:a16="http://schemas.microsoft.com/office/drawing/2014/main" id="{7F2CB770-8AB1-C331-2DC0-44A78DAEA549}"/>
                </a:ext>
              </a:extLst>
            </p:cNvPr>
            <p:cNvSpPr/>
            <p:nvPr/>
          </p:nvSpPr>
          <p:spPr>
            <a:xfrm>
              <a:off x="164592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Shape 3">
              <a:extLst>
                <a:ext uri="{FF2B5EF4-FFF2-40B4-BE49-F238E27FC236}">
                  <a16:creationId xmlns:a16="http://schemas.microsoft.com/office/drawing/2014/main" id="{EEB2F3CF-29CB-8C0E-49DF-F611663D8030}"/>
                </a:ext>
              </a:extLst>
            </p:cNvPr>
            <p:cNvSpPr/>
            <p:nvPr/>
          </p:nvSpPr>
          <p:spPr>
            <a:xfrm>
              <a:off x="329184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Shape 4">
              <a:extLst>
                <a:ext uri="{FF2B5EF4-FFF2-40B4-BE49-F238E27FC236}">
                  <a16:creationId xmlns:a16="http://schemas.microsoft.com/office/drawing/2014/main" id="{B8B6BB30-443A-D95D-5E1E-A452A15A1123}"/>
                </a:ext>
              </a:extLst>
            </p:cNvPr>
            <p:cNvSpPr/>
            <p:nvPr/>
          </p:nvSpPr>
          <p:spPr>
            <a:xfrm>
              <a:off x="493776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Shape 5">
              <a:extLst>
                <a:ext uri="{FF2B5EF4-FFF2-40B4-BE49-F238E27FC236}">
                  <a16:creationId xmlns:a16="http://schemas.microsoft.com/office/drawing/2014/main" id="{3A40327A-37E5-9878-0812-353FAA3FC218}"/>
                </a:ext>
              </a:extLst>
            </p:cNvPr>
            <p:cNvSpPr/>
            <p:nvPr/>
          </p:nvSpPr>
          <p:spPr>
            <a:xfrm>
              <a:off x="658368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Shape 6">
              <a:extLst>
                <a:ext uri="{FF2B5EF4-FFF2-40B4-BE49-F238E27FC236}">
                  <a16:creationId xmlns:a16="http://schemas.microsoft.com/office/drawing/2014/main" id="{849A6B56-9F3B-25E1-36F4-CF30DD71C041}"/>
                </a:ext>
              </a:extLst>
            </p:cNvPr>
            <p:cNvSpPr/>
            <p:nvPr/>
          </p:nvSpPr>
          <p:spPr>
            <a:xfrm>
              <a:off x="822960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Shape 7">
              <a:extLst>
                <a:ext uri="{FF2B5EF4-FFF2-40B4-BE49-F238E27FC236}">
                  <a16:creationId xmlns:a16="http://schemas.microsoft.com/office/drawing/2014/main" id="{0D9B0D64-672F-AFD3-4B33-9F5D6F0BC494}"/>
                </a:ext>
              </a:extLst>
            </p:cNvPr>
            <p:cNvSpPr/>
            <p:nvPr/>
          </p:nvSpPr>
          <p:spPr>
            <a:xfrm>
              <a:off x="987552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Shape 8">
              <a:extLst>
                <a:ext uri="{FF2B5EF4-FFF2-40B4-BE49-F238E27FC236}">
                  <a16:creationId xmlns:a16="http://schemas.microsoft.com/office/drawing/2014/main" id="{C166101D-FF55-68BE-55B1-F5B1B383E257}"/>
                </a:ext>
              </a:extLst>
            </p:cNvPr>
            <p:cNvSpPr/>
            <p:nvPr/>
          </p:nvSpPr>
          <p:spPr>
            <a:xfrm>
              <a:off x="1152144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Shape 9">
              <a:extLst>
                <a:ext uri="{FF2B5EF4-FFF2-40B4-BE49-F238E27FC236}">
                  <a16:creationId xmlns:a16="http://schemas.microsoft.com/office/drawing/2014/main" id="{0B4A7F8B-8165-9911-1B3C-3236BC8B0E5C}"/>
                </a:ext>
              </a:extLst>
            </p:cNvPr>
            <p:cNvSpPr/>
            <p:nvPr/>
          </p:nvSpPr>
          <p:spPr>
            <a:xfrm>
              <a:off x="1316736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Shape 10">
              <a:extLst>
                <a:ext uri="{FF2B5EF4-FFF2-40B4-BE49-F238E27FC236}">
                  <a16:creationId xmlns:a16="http://schemas.microsoft.com/office/drawing/2014/main" id="{5F0C78B6-0A3B-8838-109B-B9013B477E12}"/>
                </a:ext>
              </a:extLst>
            </p:cNvPr>
            <p:cNvSpPr/>
            <p:nvPr/>
          </p:nvSpPr>
          <p:spPr>
            <a:xfrm>
              <a:off x="1481328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Shape 11">
              <a:extLst>
                <a:ext uri="{FF2B5EF4-FFF2-40B4-BE49-F238E27FC236}">
                  <a16:creationId xmlns:a16="http://schemas.microsoft.com/office/drawing/2014/main" id="{0488E5CE-08EA-1F95-447F-B7E0883C37CB}"/>
                </a:ext>
              </a:extLst>
            </p:cNvPr>
            <p:cNvSpPr/>
            <p:nvPr/>
          </p:nvSpPr>
          <p:spPr>
            <a:xfrm>
              <a:off x="1645920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Shape 12">
              <a:extLst>
                <a:ext uri="{FF2B5EF4-FFF2-40B4-BE49-F238E27FC236}">
                  <a16:creationId xmlns:a16="http://schemas.microsoft.com/office/drawing/2014/main" id="{B66CCD4B-AC1D-97E2-EAD7-0FEB6BC82A82}"/>
                </a:ext>
              </a:extLst>
            </p:cNvPr>
            <p:cNvSpPr/>
            <p:nvPr/>
          </p:nvSpPr>
          <p:spPr>
            <a:xfrm>
              <a:off x="1810512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Shape 13">
              <a:extLst>
                <a:ext uri="{FF2B5EF4-FFF2-40B4-BE49-F238E27FC236}">
                  <a16:creationId xmlns:a16="http://schemas.microsoft.com/office/drawing/2014/main" id="{6CAB2140-EB47-D1AE-27EE-4DF480CDA24B}"/>
                </a:ext>
              </a:extLst>
            </p:cNvPr>
            <p:cNvSpPr/>
            <p:nvPr/>
          </p:nvSpPr>
          <p:spPr>
            <a:xfrm>
              <a:off x="1975104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Shape 14">
              <a:extLst>
                <a:ext uri="{FF2B5EF4-FFF2-40B4-BE49-F238E27FC236}">
                  <a16:creationId xmlns:a16="http://schemas.microsoft.com/office/drawing/2014/main" id="{419957BA-52A8-6FD5-2654-4CD89FA69BAC}"/>
                </a:ext>
              </a:extLst>
            </p:cNvPr>
            <p:cNvSpPr/>
            <p:nvPr/>
          </p:nvSpPr>
          <p:spPr>
            <a:xfrm>
              <a:off x="2139696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Shape 15">
              <a:extLst>
                <a:ext uri="{FF2B5EF4-FFF2-40B4-BE49-F238E27FC236}">
                  <a16:creationId xmlns:a16="http://schemas.microsoft.com/office/drawing/2014/main" id="{E72CD886-A9C0-CFA6-0BCC-3AD2BF7948F4}"/>
                </a:ext>
              </a:extLst>
            </p:cNvPr>
            <p:cNvSpPr/>
            <p:nvPr/>
          </p:nvSpPr>
          <p:spPr>
            <a:xfrm>
              <a:off x="2304288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Shape 16">
              <a:extLst>
                <a:ext uri="{FF2B5EF4-FFF2-40B4-BE49-F238E27FC236}">
                  <a16:creationId xmlns:a16="http://schemas.microsoft.com/office/drawing/2014/main" id="{D62C22DB-FF9D-3416-FDBF-5DC3A2D9BECC}"/>
                </a:ext>
              </a:extLst>
            </p:cNvPr>
            <p:cNvSpPr/>
            <p:nvPr/>
          </p:nvSpPr>
          <p:spPr>
            <a:xfrm>
              <a:off x="2468880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Shape 17">
              <a:extLst>
                <a:ext uri="{FF2B5EF4-FFF2-40B4-BE49-F238E27FC236}">
                  <a16:creationId xmlns:a16="http://schemas.microsoft.com/office/drawing/2014/main" id="{DEB7E2A2-E733-CC7B-1D4B-F3E1D866D0A2}"/>
                </a:ext>
              </a:extLst>
            </p:cNvPr>
            <p:cNvSpPr/>
            <p:nvPr/>
          </p:nvSpPr>
          <p:spPr>
            <a:xfrm>
              <a:off x="2633472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18">
              <a:extLst>
                <a:ext uri="{FF2B5EF4-FFF2-40B4-BE49-F238E27FC236}">
                  <a16:creationId xmlns:a16="http://schemas.microsoft.com/office/drawing/2014/main" id="{BF63ACAC-0238-41EF-A7D1-028854F7620D}"/>
                </a:ext>
              </a:extLst>
            </p:cNvPr>
            <p:cNvSpPr/>
            <p:nvPr/>
          </p:nvSpPr>
          <p:spPr>
            <a:xfrm>
              <a:off x="2798064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19">
              <a:extLst>
                <a:ext uri="{FF2B5EF4-FFF2-40B4-BE49-F238E27FC236}">
                  <a16:creationId xmlns:a16="http://schemas.microsoft.com/office/drawing/2014/main" id="{F1F2C5D5-3C82-A796-A48B-B112B606B065}"/>
                </a:ext>
              </a:extLst>
            </p:cNvPr>
            <p:cNvSpPr/>
            <p:nvPr/>
          </p:nvSpPr>
          <p:spPr>
            <a:xfrm>
              <a:off x="2962656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20">
              <a:extLst>
                <a:ext uri="{FF2B5EF4-FFF2-40B4-BE49-F238E27FC236}">
                  <a16:creationId xmlns:a16="http://schemas.microsoft.com/office/drawing/2014/main" id="{1EF36417-775A-0E07-0233-0202C0F63EF4}"/>
                </a:ext>
              </a:extLst>
            </p:cNvPr>
            <p:cNvSpPr/>
            <p:nvPr/>
          </p:nvSpPr>
          <p:spPr>
            <a:xfrm>
              <a:off x="3127248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21">
              <a:extLst>
                <a:ext uri="{FF2B5EF4-FFF2-40B4-BE49-F238E27FC236}">
                  <a16:creationId xmlns:a16="http://schemas.microsoft.com/office/drawing/2014/main" id="{45FC2DF2-2497-30C3-17FE-D29D2AFAAC88}"/>
                </a:ext>
              </a:extLst>
            </p:cNvPr>
            <p:cNvSpPr/>
            <p:nvPr/>
          </p:nvSpPr>
          <p:spPr>
            <a:xfrm>
              <a:off x="3291840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22">
              <a:extLst>
                <a:ext uri="{FF2B5EF4-FFF2-40B4-BE49-F238E27FC236}">
                  <a16:creationId xmlns:a16="http://schemas.microsoft.com/office/drawing/2014/main" id="{EB1DE056-76CB-D64B-4DA3-4382EE227677}"/>
                </a:ext>
              </a:extLst>
            </p:cNvPr>
            <p:cNvSpPr/>
            <p:nvPr/>
          </p:nvSpPr>
          <p:spPr>
            <a:xfrm>
              <a:off x="3456432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Shape 23">
              <a:extLst>
                <a:ext uri="{FF2B5EF4-FFF2-40B4-BE49-F238E27FC236}">
                  <a16:creationId xmlns:a16="http://schemas.microsoft.com/office/drawing/2014/main" id="{F705DF64-9700-D7F5-E0D5-6D4278398651}"/>
                </a:ext>
              </a:extLst>
            </p:cNvPr>
            <p:cNvSpPr/>
            <p:nvPr/>
          </p:nvSpPr>
          <p:spPr>
            <a:xfrm>
              <a:off x="3621024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Shape 24">
              <a:extLst>
                <a:ext uri="{FF2B5EF4-FFF2-40B4-BE49-F238E27FC236}">
                  <a16:creationId xmlns:a16="http://schemas.microsoft.com/office/drawing/2014/main" id="{0BEA68AC-928A-53D4-207B-5615CA52F97C}"/>
                </a:ext>
              </a:extLst>
            </p:cNvPr>
            <p:cNvSpPr/>
            <p:nvPr/>
          </p:nvSpPr>
          <p:spPr>
            <a:xfrm>
              <a:off x="3785616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Shape 25">
              <a:extLst>
                <a:ext uri="{FF2B5EF4-FFF2-40B4-BE49-F238E27FC236}">
                  <a16:creationId xmlns:a16="http://schemas.microsoft.com/office/drawing/2014/main" id="{6B7BF909-C6ED-0258-5E51-D6D3938EEF27}"/>
                </a:ext>
              </a:extLst>
            </p:cNvPr>
            <p:cNvSpPr/>
            <p:nvPr/>
          </p:nvSpPr>
          <p:spPr>
            <a:xfrm>
              <a:off x="3950208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Shape 26">
              <a:extLst>
                <a:ext uri="{FF2B5EF4-FFF2-40B4-BE49-F238E27FC236}">
                  <a16:creationId xmlns:a16="http://schemas.microsoft.com/office/drawing/2014/main" id="{41541DA4-BC1D-212E-46CC-7587D9477455}"/>
                </a:ext>
              </a:extLst>
            </p:cNvPr>
            <p:cNvSpPr/>
            <p:nvPr/>
          </p:nvSpPr>
          <p:spPr>
            <a:xfrm>
              <a:off x="4114800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Shape 27">
              <a:extLst>
                <a:ext uri="{FF2B5EF4-FFF2-40B4-BE49-F238E27FC236}">
                  <a16:creationId xmlns:a16="http://schemas.microsoft.com/office/drawing/2014/main" id="{FB96AE31-9D59-64E4-D3E1-B7195F190B79}"/>
                </a:ext>
              </a:extLst>
            </p:cNvPr>
            <p:cNvSpPr/>
            <p:nvPr/>
          </p:nvSpPr>
          <p:spPr>
            <a:xfrm>
              <a:off x="4279392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Shape 28">
              <a:extLst>
                <a:ext uri="{FF2B5EF4-FFF2-40B4-BE49-F238E27FC236}">
                  <a16:creationId xmlns:a16="http://schemas.microsoft.com/office/drawing/2014/main" id="{6909D1A8-F9D8-C552-0D3D-A7D725060E01}"/>
                </a:ext>
              </a:extLst>
            </p:cNvPr>
            <p:cNvSpPr/>
            <p:nvPr/>
          </p:nvSpPr>
          <p:spPr>
            <a:xfrm>
              <a:off x="4443984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Shape 29">
              <a:extLst>
                <a:ext uri="{FF2B5EF4-FFF2-40B4-BE49-F238E27FC236}">
                  <a16:creationId xmlns:a16="http://schemas.microsoft.com/office/drawing/2014/main" id="{F35567A1-962C-6256-5237-13D168691617}"/>
                </a:ext>
              </a:extLst>
            </p:cNvPr>
            <p:cNvSpPr/>
            <p:nvPr/>
          </p:nvSpPr>
          <p:spPr>
            <a:xfrm>
              <a:off x="4608576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Shape 30">
              <a:extLst>
                <a:ext uri="{FF2B5EF4-FFF2-40B4-BE49-F238E27FC236}">
                  <a16:creationId xmlns:a16="http://schemas.microsoft.com/office/drawing/2014/main" id="{263C3D86-CD51-5DEA-EE41-5D378E08D5B4}"/>
                </a:ext>
              </a:extLst>
            </p:cNvPr>
            <p:cNvSpPr/>
            <p:nvPr/>
          </p:nvSpPr>
          <p:spPr>
            <a:xfrm>
              <a:off x="4773168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Shape 31">
              <a:extLst>
                <a:ext uri="{FF2B5EF4-FFF2-40B4-BE49-F238E27FC236}">
                  <a16:creationId xmlns:a16="http://schemas.microsoft.com/office/drawing/2014/main" id="{B1D7C03B-3B37-EA89-A382-C0361C7B9903}"/>
                </a:ext>
              </a:extLst>
            </p:cNvPr>
            <p:cNvSpPr/>
            <p:nvPr/>
          </p:nvSpPr>
          <p:spPr>
            <a:xfrm>
              <a:off x="4937760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Shape 32">
              <a:extLst>
                <a:ext uri="{FF2B5EF4-FFF2-40B4-BE49-F238E27FC236}">
                  <a16:creationId xmlns:a16="http://schemas.microsoft.com/office/drawing/2014/main" id="{FC065FA7-D643-5D7B-76FA-6055430B7411}"/>
                </a:ext>
              </a:extLst>
            </p:cNvPr>
            <p:cNvSpPr/>
            <p:nvPr/>
          </p:nvSpPr>
          <p:spPr>
            <a:xfrm>
              <a:off x="5102352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Shape 33">
              <a:extLst>
                <a:ext uri="{FF2B5EF4-FFF2-40B4-BE49-F238E27FC236}">
                  <a16:creationId xmlns:a16="http://schemas.microsoft.com/office/drawing/2014/main" id="{AFE00FE4-C89D-9F03-E5CA-529FE926ED68}"/>
                </a:ext>
              </a:extLst>
            </p:cNvPr>
            <p:cNvSpPr/>
            <p:nvPr/>
          </p:nvSpPr>
          <p:spPr>
            <a:xfrm>
              <a:off x="5266944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Shape 34">
              <a:extLst>
                <a:ext uri="{FF2B5EF4-FFF2-40B4-BE49-F238E27FC236}">
                  <a16:creationId xmlns:a16="http://schemas.microsoft.com/office/drawing/2014/main" id="{8EB0132E-EF4F-14C3-A7CF-756EDD29A65F}"/>
                </a:ext>
              </a:extLst>
            </p:cNvPr>
            <p:cNvSpPr/>
            <p:nvPr/>
          </p:nvSpPr>
          <p:spPr>
            <a:xfrm>
              <a:off x="5431536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Shape 35">
              <a:extLst>
                <a:ext uri="{FF2B5EF4-FFF2-40B4-BE49-F238E27FC236}">
                  <a16:creationId xmlns:a16="http://schemas.microsoft.com/office/drawing/2014/main" id="{EAAB859D-2690-3874-9B69-1D465DCF038F}"/>
                </a:ext>
              </a:extLst>
            </p:cNvPr>
            <p:cNvSpPr/>
            <p:nvPr/>
          </p:nvSpPr>
          <p:spPr>
            <a:xfrm>
              <a:off x="5596128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Shape 36">
              <a:extLst>
                <a:ext uri="{FF2B5EF4-FFF2-40B4-BE49-F238E27FC236}">
                  <a16:creationId xmlns:a16="http://schemas.microsoft.com/office/drawing/2014/main" id="{7563127F-9882-5141-FEA3-5B36DF3627E2}"/>
                </a:ext>
              </a:extLst>
            </p:cNvPr>
            <p:cNvSpPr/>
            <p:nvPr/>
          </p:nvSpPr>
          <p:spPr>
            <a:xfrm>
              <a:off x="5760720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Shape 37">
              <a:extLst>
                <a:ext uri="{FF2B5EF4-FFF2-40B4-BE49-F238E27FC236}">
                  <a16:creationId xmlns:a16="http://schemas.microsoft.com/office/drawing/2014/main" id="{576EB97E-8BF1-0947-4522-F1417506C107}"/>
                </a:ext>
              </a:extLst>
            </p:cNvPr>
            <p:cNvSpPr/>
            <p:nvPr/>
          </p:nvSpPr>
          <p:spPr>
            <a:xfrm>
              <a:off x="5925312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Shape 38">
              <a:extLst>
                <a:ext uri="{FF2B5EF4-FFF2-40B4-BE49-F238E27FC236}">
                  <a16:creationId xmlns:a16="http://schemas.microsoft.com/office/drawing/2014/main" id="{A87D3542-D654-4828-2987-BFE31749A940}"/>
                </a:ext>
              </a:extLst>
            </p:cNvPr>
            <p:cNvSpPr/>
            <p:nvPr/>
          </p:nvSpPr>
          <p:spPr>
            <a:xfrm>
              <a:off x="6089904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Shape 39">
              <a:extLst>
                <a:ext uri="{FF2B5EF4-FFF2-40B4-BE49-F238E27FC236}">
                  <a16:creationId xmlns:a16="http://schemas.microsoft.com/office/drawing/2014/main" id="{706AD0C0-F220-86E0-515D-8E02C4CDBE2A}"/>
                </a:ext>
              </a:extLst>
            </p:cNvPr>
            <p:cNvSpPr/>
            <p:nvPr/>
          </p:nvSpPr>
          <p:spPr>
            <a:xfrm>
              <a:off x="6254496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Shape 40">
              <a:extLst>
                <a:ext uri="{FF2B5EF4-FFF2-40B4-BE49-F238E27FC236}">
                  <a16:creationId xmlns:a16="http://schemas.microsoft.com/office/drawing/2014/main" id="{E2196E0D-8205-31CD-5EB3-C52EF800B00F}"/>
                </a:ext>
              </a:extLst>
            </p:cNvPr>
            <p:cNvSpPr/>
            <p:nvPr/>
          </p:nvSpPr>
          <p:spPr>
            <a:xfrm>
              <a:off x="6419088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Shape 41">
              <a:extLst>
                <a:ext uri="{FF2B5EF4-FFF2-40B4-BE49-F238E27FC236}">
                  <a16:creationId xmlns:a16="http://schemas.microsoft.com/office/drawing/2014/main" id="{29B9C31F-F118-EF7A-6AE5-92AC7E12A184}"/>
                </a:ext>
              </a:extLst>
            </p:cNvPr>
            <p:cNvSpPr/>
            <p:nvPr/>
          </p:nvSpPr>
          <p:spPr>
            <a:xfrm>
              <a:off x="6583680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Shape 42">
              <a:extLst>
                <a:ext uri="{FF2B5EF4-FFF2-40B4-BE49-F238E27FC236}">
                  <a16:creationId xmlns:a16="http://schemas.microsoft.com/office/drawing/2014/main" id="{610498D6-38D6-9687-F26A-2B6F7F5B1421}"/>
                </a:ext>
              </a:extLst>
            </p:cNvPr>
            <p:cNvSpPr/>
            <p:nvPr/>
          </p:nvSpPr>
          <p:spPr>
            <a:xfrm>
              <a:off x="6748272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Shape 43">
              <a:extLst>
                <a:ext uri="{FF2B5EF4-FFF2-40B4-BE49-F238E27FC236}">
                  <a16:creationId xmlns:a16="http://schemas.microsoft.com/office/drawing/2014/main" id="{30504284-B042-D3A4-43E7-6027DB182CDF}"/>
                </a:ext>
              </a:extLst>
            </p:cNvPr>
            <p:cNvSpPr/>
            <p:nvPr/>
          </p:nvSpPr>
          <p:spPr>
            <a:xfrm>
              <a:off x="6912864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Shape 44">
              <a:extLst>
                <a:ext uri="{FF2B5EF4-FFF2-40B4-BE49-F238E27FC236}">
                  <a16:creationId xmlns:a16="http://schemas.microsoft.com/office/drawing/2014/main" id="{826BA9CF-0E2E-FEFC-0A00-19B6FB557DF8}"/>
                </a:ext>
              </a:extLst>
            </p:cNvPr>
            <p:cNvSpPr/>
            <p:nvPr/>
          </p:nvSpPr>
          <p:spPr>
            <a:xfrm>
              <a:off x="7077456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Shape 45">
              <a:extLst>
                <a:ext uri="{FF2B5EF4-FFF2-40B4-BE49-F238E27FC236}">
                  <a16:creationId xmlns:a16="http://schemas.microsoft.com/office/drawing/2014/main" id="{25E3D030-93DA-6494-C97A-A3353A336A76}"/>
                </a:ext>
              </a:extLst>
            </p:cNvPr>
            <p:cNvSpPr/>
            <p:nvPr/>
          </p:nvSpPr>
          <p:spPr>
            <a:xfrm>
              <a:off x="7242048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Shape 46">
              <a:extLst>
                <a:ext uri="{FF2B5EF4-FFF2-40B4-BE49-F238E27FC236}">
                  <a16:creationId xmlns:a16="http://schemas.microsoft.com/office/drawing/2014/main" id="{124374EF-BE02-95C4-E5BE-448BE7B8011D}"/>
                </a:ext>
              </a:extLst>
            </p:cNvPr>
            <p:cNvSpPr/>
            <p:nvPr/>
          </p:nvSpPr>
          <p:spPr>
            <a:xfrm>
              <a:off x="7406640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Shape 47">
              <a:extLst>
                <a:ext uri="{FF2B5EF4-FFF2-40B4-BE49-F238E27FC236}">
                  <a16:creationId xmlns:a16="http://schemas.microsoft.com/office/drawing/2014/main" id="{E316D109-A7E9-1C8E-9F82-AD1529704DBE}"/>
                </a:ext>
              </a:extLst>
            </p:cNvPr>
            <p:cNvSpPr/>
            <p:nvPr/>
          </p:nvSpPr>
          <p:spPr>
            <a:xfrm>
              <a:off x="7571232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Shape 48">
              <a:extLst>
                <a:ext uri="{FF2B5EF4-FFF2-40B4-BE49-F238E27FC236}">
                  <a16:creationId xmlns:a16="http://schemas.microsoft.com/office/drawing/2014/main" id="{16BA1B38-B026-9C5F-8AAA-36D965EC1352}"/>
                </a:ext>
              </a:extLst>
            </p:cNvPr>
            <p:cNvSpPr/>
            <p:nvPr/>
          </p:nvSpPr>
          <p:spPr>
            <a:xfrm>
              <a:off x="7735824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Shape 49">
              <a:extLst>
                <a:ext uri="{FF2B5EF4-FFF2-40B4-BE49-F238E27FC236}">
                  <a16:creationId xmlns:a16="http://schemas.microsoft.com/office/drawing/2014/main" id="{225030D2-755C-2E76-794C-2D34800C3976}"/>
                </a:ext>
              </a:extLst>
            </p:cNvPr>
            <p:cNvSpPr/>
            <p:nvPr/>
          </p:nvSpPr>
          <p:spPr>
            <a:xfrm>
              <a:off x="7900416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Shape 50">
              <a:extLst>
                <a:ext uri="{FF2B5EF4-FFF2-40B4-BE49-F238E27FC236}">
                  <a16:creationId xmlns:a16="http://schemas.microsoft.com/office/drawing/2014/main" id="{5AE8570C-9307-C393-E647-2DDB46D6A55F}"/>
                </a:ext>
              </a:extLst>
            </p:cNvPr>
            <p:cNvSpPr/>
            <p:nvPr/>
          </p:nvSpPr>
          <p:spPr>
            <a:xfrm>
              <a:off x="8065008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Shape 51">
              <a:extLst>
                <a:ext uri="{FF2B5EF4-FFF2-40B4-BE49-F238E27FC236}">
                  <a16:creationId xmlns:a16="http://schemas.microsoft.com/office/drawing/2014/main" id="{F5EB75D7-BED9-FD31-1AFA-2D7D98E79A16}"/>
                </a:ext>
              </a:extLst>
            </p:cNvPr>
            <p:cNvSpPr/>
            <p:nvPr/>
          </p:nvSpPr>
          <p:spPr>
            <a:xfrm>
              <a:off x="8229600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Shape 52">
              <a:extLst>
                <a:ext uri="{FF2B5EF4-FFF2-40B4-BE49-F238E27FC236}">
                  <a16:creationId xmlns:a16="http://schemas.microsoft.com/office/drawing/2014/main" id="{9E5DB537-FBF4-C45C-FCFF-972075762D30}"/>
                </a:ext>
              </a:extLst>
            </p:cNvPr>
            <p:cNvSpPr/>
            <p:nvPr/>
          </p:nvSpPr>
          <p:spPr>
            <a:xfrm>
              <a:off x="8394192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Shape 53">
              <a:extLst>
                <a:ext uri="{FF2B5EF4-FFF2-40B4-BE49-F238E27FC236}">
                  <a16:creationId xmlns:a16="http://schemas.microsoft.com/office/drawing/2014/main" id="{0FC52A7F-3565-5285-FE74-605BF6F15233}"/>
                </a:ext>
              </a:extLst>
            </p:cNvPr>
            <p:cNvSpPr/>
            <p:nvPr/>
          </p:nvSpPr>
          <p:spPr>
            <a:xfrm>
              <a:off x="8558784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Shape 54">
              <a:extLst>
                <a:ext uri="{FF2B5EF4-FFF2-40B4-BE49-F238E27FC236}">
                  <a16:creationId xmlns:a16="http://schemas.microsoft.com/office/drawing/2014/main" id="{25F1589E-2C24-41FA-700C-013FD9575BA9}"/>
                </a:ext>
              </a:extLst>
            </p:cNvPr>
            <p:cNvSpPr/>
            <p:nvPr/>
          </p:nvSpPr>
          <p:spPr>
            <a:xfrm>
              <a:off x="8723376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Shape 55">
              <a:extLst>
                <a:ext uri="{FF2B5EF4-FFF2-40B4-BE49-F238E27FC236}">
                  <a16:creationId xmlns:a16="http://schemas.microsoft.com/office/drawing/2014/main" id="{7C58F139-4091-92DE-0BE3-D608918CF6CF}"/>
                </a:ext>
              </a:extLst>
            </p:cNvPr>
            <p:cNvSpPr/>
            <p:nvPr/>
          </p:nvSpPr>
          <p:spPr>
            <a:xfrm>
              <a:off x="8887968" y="795528"/>
              <a:ext cx="164592" cy="164592"/>
            </a:xfrm>
            <a:prstGeom prst="rect">
              <a:avLst/>
            </a:prstGeom>
            <a:solidFill>
              <a:srgbClr val="F7C948"/>
            </a:solidFill>
            <a:ln w="12700">
              <a:solidFill>
                <a:srgbClr val="F7C9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Shape 56">
              <a:extLst>
                <a:ext uri="{FF2B5EF4-FFF2-40B4-BE49-F238E27FC236}">
                  <a16:creationId xmlns:a16="http://schemas.microsoft.com/office/drawing/2014/main" id="{623D18A8-FEFB-5B52-C43C-D7CFACDE9988}"/>
                </a:ext>
              </a:extLst>
            </p:cNvPr>
            <p:cNvSpPr/>
            <p:nvPr/>
          </p:nvSpPr>
          <p:spPr>
            <a:xfrm>
              <a:off x="9052560" y="795528"/>
              <a:ext cx="164592" cy="164592"/>
            </a:xfrm>
            <a:prstGeom prst="rect">
              <a:avLst/>
            </a:prstGeom>
            <a:solidFill>
              <a:srgbClr val="0D0D0D"/>
            </a:solidFill>
            <a:ln w="12700">
              <a:solidFill>
                <a:srgbClr val="0D0D0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86" name="Yello-black">
            <a:extLst>
              <a:ext uri="{FF2B5EF4-FFF2-40B4-BE49-F238E27FC236}">
                <a16:creationId xmlns:a16="http://schemas.microsoft.com/office/drawing/2014/main" id="{1793E2B8-EF47-8018-59B8-D201B0959B7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989731"/>
            <a:ext cx="9392168" cy="340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090E76-C804-E177-EB3C-04C8421DF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473" y="11430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00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— Data Ingestion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7C948"/>
                </a:solidFill>
              </a:rPr>
              <a:t>Pulling 3,500,000+ NYC citizen complaint records into Google BigQuery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" y="1170432"/>
            <a:ext cx="416052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20040" y="1170432"/>
            <a:ext cx="502920" cy="1024128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20040" y="1170432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932688" y="12252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</a:rPr>
              <a:t>NYC 311 Open Data API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32688" y="170078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Sodapy client + App Token to bypass rate limits. Pulls 6.5M+ records dynamically.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0040" y="2359152"/>
            <a:ext cx="416052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320040" y="2359152"/>
            <a:ext cx="502920" cy="1024128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20040" y="2359152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932688" y="24140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</a:rPr>
              <a:t>Python Ingestion Script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32688" y="288950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Pandas-based script connects to the API and uploads directly to BigQuery raw_service_requests table.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0040" y="3547872"/>
            <a:ext cx="416052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20040" y="3547872"/>
            <a:ext cx="502920" cy="1024128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20040" y="3547872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932688" y="36027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</a:rPr>
              <a:t>BigQuery — Raw Staging Area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932688" y="407822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Dataset: nyc_311_raw_data · Table: raw_service_requests · 40+ columns of raw citizen complaint data.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29184" y="4767602"/>
            <a:ext cx="8503920" cy="73152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57C7C368-878D-F608-F13E-23DA5C41C53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79611895"/>
                  </p:ext>
                </p:extLst>
              </p:nvPr>
            </p:nvGraphicFramePr>
            <p:xfrm>
              <a:off x="4193667" y="1272540"/>
              <a:ext cx="182880" cy="102870"/>
            </p:xfrm>
            <a:graphic>
              <a:graphicData uri="http://schemas.microsoft.com/office/powerpoint/2016/slidezoom">
                <pslz:sldZm>
                  <pslz:sldZmObj sldId="272" cId="2996312307">
                    <pslz:zmPr id="{A12ADE1D-4842-4FFE-9930-7CDB53BF724F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" cy="10287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7C948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57C7C368-878D-F608-F13E-23DA5C41C5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3667" y="1272540"/>
                <a:ext cx="182880" cy="10287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7C948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p:pic>
        <p:nvPicPr>
          <p:cNvPr id="6" name="Yello-black">
            <a:extLst>
              <a:ext uri="{FF2B5EF4-FFF2-40B4-BE49-F238E27FC236}">
                <a16:creationId xmlns:a16="http://schemas.microsoft.com/office/drawing/2014/main" id="{885CCA36-0824-F360-DFAB-1ECF67E213AF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-124084" y="951631"/>
            <a:ext cx="9392168" cy="34016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9E326182-1B5E-2942-CEBF-88C5BDF11C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04897739"/>
                  </p:ext>
                </p:extLst>
              </p:nvPr>
            </p:nvGraphicFramePr>
            <p:xfrm>
              <a:off x="4193667" y="2434590"/>
              <a:ext cx="182880" cy="102870"/>
            </p:xfrm>
            <a:graphic>
              <a:graphicData uri="http://schemas.microsoft.com/office/powerpoint/2016/slidezoom">
                <pslz:sldZm>
                  <pslz:sldZmObj sldId="274" cId="1729284543">
                    <pslz:zmPr id="{3F8F8E39-378F-4501-9BE5-3EF943929F81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" cy="10287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7C948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9E326182-1B5E-2942-CEBF-88C5BDF11C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93667" y="2434590"/>
                <a:ext cx="182880" cy="10287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7C948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F137B549-C7BB-95A4-9DEA-6B894FB1CB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82766151"/>
                  </p:ext>
                </p:extLst>
              </p:nvPr>
            </p:nvGraphicFramePr>
            <p:xfrm>
              <a:off x="4192143" y="3644531"/>
              <a:ext cx="182880" cy="102870"/>
            </p:xfrm>
            <a:graphic>
              <a:graphicData uri="http://schemas.microsoft.com/office/powerpoint/2016/slidezoom">
                <pslz:sldZm>
                  <pslz:sldZmObj sldId="275" cId="2451508315">
                    <pslz:zmPr id="{3D617016-8B7A-4516-9859-3B737798EF60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" cy="10287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7C948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F137B549-C7BB-95A4-9DEA-6B894FB1CB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92143" y="3644531"/>
                <a:ext cx="182880" cy="10287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7C948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92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Modeling</a:t>
            </a:r>
            <a:endParaRPr lang="en-US" sz="3600" dirty="0"/>
          </a:p>
        </p:txBody>
      </p:sp>
      <p:sp>
        <p:nvSpPr>
          <p:cNvPr id="95" name="Text 9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Building the transformation layer — Staging, Dimensions &amp; Fact Table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9CA3AF"/>
                </a:solidFill>
              </a:rPr>
              <a:t>NYC 311 Service Requests  ·  Data Engineering Graduation Project  ·  DEPI 2026</a:t>
            </a:r>
            <a:endParaRPr lang="en-US" sz="1100" dirty="0"/>
          </a:p>
        </p:txBody>
      </p:sp>
      <p:pic>
        <p:nvPicPr>
          <p:cNvPr id="3" name="Yello-black">
            <a:extLst>
              <a:ext uri="{FF2B5EF4-FFF2-40B4-BE49-F238E27FC236}">
                <a16:creationId xmlns:a16="http://schemas.microsoft.com/office/drawing/2014/main" id="{A002B2C1-1479-6402-3D6C-43FF5517751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-9525"/>
            <a:ext cx="9392168" cy="34016"/>
          </a:xfrm>
          <a:prstGeom prst="rect">
            <a:avLst/>
          </a:prstGeom>
        </p:spPr>
      </p:pic>
      <p:sp>
        <p:nvSpPr>
          <p:cNvPr id="4" name="Text 57">
            <a:extLst>
              <a:ext uri="{FF2B5EF4-FFF2-40B4-BE49-F238E27FC236}">
                <a16:creationId xmlns:a16="http://schemas.microsoft.com/office/drawing/2014/main" id="{CC2F2DF7-0AAC-A711-EB24-0877E0B37B13}"/>
              </a:ext>
            </a:extLst>
          </p:cNvPr>
          <p:cNvSpPr/>
          <p:nvPr/>
        </p:nvSpPr>
        <p:spPr>
          <a:xfrm>
            <a:off x="3200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— dbt Modeling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00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Local Development Setup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C948"/>
                </a:solidFill>
              </a:rPr>
              <a:t>Steps to connect dbt to </a:t>
            </a:r>
            <a:r>
              <a:rPr lang="en-US" sz="1100" dirty="0" err="1">
                <a:solidFill>
                  <a:srgbClr val="F7C948"/>
                </a:solidFill>
              </a:rPr>
              <a:t>BigQuery</a:t>
            </a:r>
            <a:r>
              <a:rPr lang="en-US" sz="1100" dirty="0">
                <a:solidFill>
                  <a:srgbClr val="F7C948"/>
                </a:solidFill>
              </a:rPr>
              <a:t> to run the first model</a:t>
            </a:r>
            <a:endParaRPr lang="en-US" sz="11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EE2C50-9C0D-A7E1-B983-F12F4ECB69A3}"/>
              </a:ext>
            </a:extLst>
          </p:cNvPr>
          <p:cNvGrpSpPr/>
          <p:nvPr/>
        </p:nvGrpSpPr>
        <p:grpSpPr>
          <a:xfrm>
            <a:off x="320040" y="1143000"/>
            <a:ext cx="4251960" cy="822960"/>
            <a:chOff x="320040" y="1143000"/>
            <a:chExt cx="4251960" cy="822960"/>
          </a:xfrm>
        </p:grpSpPr>
        <p:sp>
          <p:nvSpPr>
            <p:cNvPr id="61" name="Shape 59"/>
            <p:cNvSpPr/>
            <p:nvPr/>
          </p:nvSpPr>
          <p:spPr>
            <a:xfrm>
              <a:off x="320040" y="1143000"/>
              <a:ext cx="4251960" cy="822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50800" dir="81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61"/>
            <p:cNvSpPr/>
            <p:nvPr/>
          </p:nvSpPr>
          <p:spPr>
            <a:xfrm>
              <a:off x="320040" y="1143000"/>
              <a:ext cx="548640" cy="822960"/>
            </a:xfrm>
            <a:prstGeom prst="rect">
              <a:avLst/>
            </a:prstGeom>
            <a:solidFill>
              <a:srgbClr val="F7C948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0D0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960120" y="1197864"/>
              <a:ext cx="34747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 dirty="0">
                  <a:solidFill>
                    <a:srgbClr val="111827"/>
                  </a:solidFill>
                </a:rPr>
                <a:t>Create Project Folder in VS Code</a:t>
              </a:r>
              <a:endParaRPr lang="en-US" sz="105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960120" y="1502430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D09E0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NYC_311_PROJECT/</a:t>
              </a:r>
              <a:endParaRPr lang="en-US" sz="850" b="1" dirty="0">
                <a:solidFill>
                  <a:srgbClr val="D09E00"/>
                </a:solidFill>
              </a:endParaRPr>
            </a:p>
          </p:txBody>
        </p:sp>
      </p:grpSp>
      <p:sp>
        <p:nvSpPr>
          <p:cNvPr id="74" name="Text 72"/>
          <p:cNvSpPr/>
          <p:nvPr/>
        </p:nvSpPr>
        <p:spPr>
          <a:xfrm>
            <a:off x="960120" y="1985479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F508E-25AE-4151-FE80-A2D773D75A64}"/>
              </a:ext>
            </a:extLst>
          </p:cNvPr>
          <p:cNvGrpSpPr/>
          <p:nvPr/>
        </p:nvGrpSpPr>
        <p:grpSpPr>
          <a:xfrm>
            <a:off x="320040" y="3008376"/>
            <a:ext cx="4251960" cy="822960"/>
            <a:chOff x="4754880" y="2075688"/>
            <a:chExt cx="4251960" cy="822960"/>
          </a:xfrm>
        </p:grpSpPr>
        <p:sp>
          <p:nvSpPr>
            <p:cNvPr id="76" name="Shape 74"/>
            <p:cNvSpPr/>
            <p:nvPr/>
          </p:nvSpPr>
          <p:spPr>
            <a:xfrm>
              <a:off x="4754880" y="2075688"/>
              <a:ext cx="4251960" cy="822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50800" dir="81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 76"/>
            <p:cNvSpPr/>
            <p:nvPr/>
          </p:nvSpPr>
          <p:spPr>
            <a:xfrm>
              <a:off x="4754880" y="2075688"/>
              <a:ext cx="548640" cy="822960"/>
            </a:xfrm>
            <a:prstGeom prst="rect">
              <a:avLst/>
            </a:prstGeom>
            <a:solidFill>
              <a:srgbClr val="F7C948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0D0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endParaRPr lang="en-US" sz="1100" dirty="0"/>
            </a:p>
          </p:txBody>
        </p:sp>
        <p:sp>
          <p:nvSpPr>
            <p:cNvPr id="79" name="Text 77"/>
            <p:cNvSpPr/>
            <p:nvPr/>
          </p:nvSpPr>
          <p:spPr>
            <a:xfrm>
              <a:off x="5394960" y="2130552"/>
              <a:ext cx="34747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11827"/>
                  </a:solidFill>
                </a:rPr>
                <a:t>Install dbt (pinned versions)</a:t>
              </a:r>
              <a:endParaRPr lang="en-US" sz="1050" dirty="0"/>
            </a:p>
          </p:txBody>
        </p:sp>
        <p:sp>
          <p:nvSpPr>
            <p:cNvPr id="80" name="Text 78"/>
            <p:cNvSpPr/>
            <p:nvPr/>
          </p:nvSpPr>
          <p:spPr>
            <a:xfrm>
              <a:off x="5394960" y="2551176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0" b="1" dirty="0">
                  <a:solidFill>
                    <a:srgbClr val="D09E00"/>
                  </a:solidFill>
                  <a:latin typeface="Courier New" pitchFamily="34" charset="0"/>
                  <a:cs typeface="Courier New" pitchFamily="34" charset="-120"/>
                </a:rPr>
                <a:t>pip install dbt-core==1.8.9  dbt-bigquery==1.8.2</a:t>
              </a:r>
            </a:p>
          </p:txBody>
        </p:sp>
      </p:grpSp>
      <p:sp>
        <p:nvSpPr>
          <p:cNvPr id="86" name="Shape 84"/>
          <p:cNvSpPr/>
          <p:nvPr/>
        </p:nvSpPr>
        <p:spPr>
          <a:xfrm>
            <a:off x="4754880" y="3008376"/>
            <a:ext cx="4251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4754880" y="3008376"/>
            <a:ext cx="548640" cy="822960"/>
          </a:xfrm>
          <a:prstGeom prst="rect">
            <a:avLst/>
          </a:prstGeom>
          <a:solidFill>
            <a:srgbClr val="F7C9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5394960" y="3063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Configure profiles.yml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5394960" y="3483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D09E00"/>
                </a:solidFill>
                <a:latin typeface="Courier New" pitchFamily="34" charset="0"/>
                <a:cs typeface="Courier New" pitchFamily="34" charset="-120"/>
              </a:rPr>
              <a:t>C:\Users\NAME\.dbt\profiles.yml  (kept outside repo)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A682B6-0EE2-3056-E02F-D2CFBF6293FA}"/>
              </a:ext>
            </a:extLst>
          </p:cNvPr>
          <p:cNvGrpSpPr/>
          <p:nvPr/>
        </p:nvGrpSpPr>
        <p:grpSpPr>
          <a:xfrm>
            <a:off x="329184" y="3941064"/>
            <a:ext cx="4251960" cy="822960"/>
            <a:chOff x="320040" y="3941064"/>
            <a:chExt cx="4251960" cy="822960"/>
          </a:xfrm>
        </p:grpSpPr>
        <p:sp>
          <p:nvSpPr>
            <p:cNvPr id="91" name="Shape 89"/>
            <p:cNvSpPr/>
            <p:nvPr/>
          </p:nvSpPr>
          <p:spPr>
            <a:xfrm>
              <a:off x="320040" y="3941064"/>
              <a:ext cx="4251960" cy="822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50800" dir="81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 91"/>
            <p:cNvSpPr/>
            <p:nvPr/>
          </p:nvSpPr>
          <p:spPr>
            <a:xfrm>
              <a:off x="320040" y="3941064"/>
              <a:ext cx="548640" cy="822960"/>
            </a:xfrm>
            <a:prstGeom prst="rect">
              <a:avLst/>
            </a:prstGeom>
            <a:solidFill>
              <a:srgbClr val="F7C948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0D0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</a:t>
              </a:r>
              <a:endParaRPr lang="en-US" sz="1100" dirty="0"/>
            </a:p>
          </p:txBody>
        </p:sp>
        <p:sp>
          <p:nvSpPr>
            <p:cNvPr id="94" name="Text 92"/>
            <p:cNvSpPr/>
            <p:nvPr/>
          </p:nvSpPr>
          <p:spPr>
            <a:xfrm>
              <a:off x="960120" y="3995928"/>
              <a:ext cx="34747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11827"/>
                  </a:solidFill>
                </a:rPr>
                <a:t>Authenticate with Google Cloud</a:t>
              </a:r>
              <a:endParaRPr lang="en-US" sz="1050" dirty="0"/>
            </a:p>
          </p:txBody>
        </p:sp>
        <p:sp>
          <p:nvSpPr>
            <p:cNvPr id="95" name="Text 93"/>
            <p:cNvSpPr/>
            <p:nvPr/>
          </p:nvSpPr>
          <p:spPr>
            <a:xfrm>
              <a:off x="960120" y="4416552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0" b="1" dirty="0">
                  <a:solidFill>
                    <a:srgbClr val="D09E00"/>
                  </a:solidFill>
                  <a:latin typeface="Courier New" pitchFamily="34" charset="0"/>
                  <a:cs typeface="Courier New" pitchFamily="34" charset="-120"/>
                </a:rPr>
                <a:t>gcloud auth application-default login</a:t>
              </a:r>
            </a:p>
          </p:txBody>
        </p:sp>
      </p:grpSp>
      <p:sp>
        <p:nvSpPr>
          <p:cNvPr id="96" name="Shape 94"/>
          <p:cNvSpPr/>
          <p:nvPr/>
        </p:nvSpPr>
        <p:spPr>
          <a:xfrm>
            <a:off x="4754880" y="3941064"/>
            <a:ext cx="4251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754880" y="3941064"/>
            <a:ext cx="548640" cy="822960"/>
          </a:xfrm>
          <a:prstGeom prst="rect">
            <a:avLst/>
          </a:prstGeom>
          <a:solidFill>
            <a:srgbClr val="F7C9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5394960" y="3995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Test the Connection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5394960" y="4416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 debug  →  All checks passed! ✅</a:t>
            </a:r>
            <a:endParaRPr lang="en-US" sz="85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83E4C5-3D46-7140-2281-B9ED72328F83}"/>
              </a:ext>
            </a:extLst>
          </p:cNvPr>
          <p:cNvGrpSpPr/>
          <p:nvPr/>
        </p:nvGrpSpPr>
        <p:grpSpPr>
          <a:xfrm>
            <a:off x="311248" y="2086064"/>
            <a:ext cx="4251960" cy="822960"/>
            <a:chOff x="4754880" y="1143000"/>
            <a:chExt cx="4251960" cy="822960"/>
          </a:xfrm>
        </p:grpSpPr>
        <p:sp>
          <p:nvSpPr>
            <p:cNvPr id="66" name="Shape 64"/>
            <p:cNvSpPr/>
            <p:nvPr/>
          </p:nvSpPr>
          <p:spPr>
            <a:xfrm>
              <a:off x="4754880" y="1143000"/>
              <a:ext cx="4251960" cy="822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50800" dir="81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 66"/>
            <p:cNvSpPr/>
            <p:nvPr/>
          </p:nvSpPr>
          <p:spPr>
            <a:xfrm>
              <a:off x="4754880" y="1143000"/>
              <a:ext cx="548640" cy="822960"/>
            </a:xfrm>
            <a:prstGeom prst="rect">
              <a:avLst/>
            </a:prstGeom>
            <a:solidFill>
              <a:srgbClr val="F7C948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0D0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endParaRPr lang="en-US" sz="110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5377727" y="1192589"/>
              <a:ext cx="34747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 dirty="0">
                  <a:solidFill>
                    <a:srgbClr val="111827"/>
                  </a:solidFill>
                </a:rPr>
                <a:t>Create Virtual Env &amp; Activate it</a:t>
              </a:r>
              <a:endParaRPr lang="en-US" sz="1050" dirty="0"/>
            </a:p>
            <a:p>
              <a:pPr marL="0" indent="0">
                <a:buNone/>
              </a:pPr>
              <a:endParaRPr lang="en-US" sz="105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5394960" y="1406946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0" b="1" dirty="0">
                  <a:solidFill>
                    <a:srgbClr val="D09E00"/>
                  </a:solidFill>
                  <a:latin typeface="Courier New" pitchFamily="34" charset="0"/>
                  <a:cs typeface="Courier New" pitchFamily="34" charset="-120"/>
                </a:rPr>
                <a:t>python -m venv SMAL</a:t>
              </a:r>
            </a:p>
          </p:txBody>
        </p:sp>
        <p:sp>
          <p:nvSpPr>
            <p:cNvPr id="3" name="Text 73"/>
            <p:cNvSpPr/>
            <p:nvPr/>
          </p:nvSpPr>
          <p:spPr>
            <a:xfrm>
              <a:off x="5394960" y="1626402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0" b="1" dirty="0">
                  <a:solidFill>
                    <a:srgbClr val="D09E00"/>
                  </a:solidFill>
                  <a:latin typeface="Courier New" pitchFamily="34" charset="0"/>
                  <a:cs typeface="Courier New" pitchFamily="34" charset="-120"/>
                </a:rPr>
                <a:t>SMAL\Scripts\activate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8EEF8CE-B236-0BC2-50B8-3BB3988EA950}"/>
              </a:ext>
            </a:extLst>
          </p:cNvPr>
          <p:cNvGrpSpPr/>
          <p:nvPr/>
        </p:nvGrpSpPr>
        <p:grpSpPr>
          <a:xfrm>
            <a:off x="4753122" y="1143000"/>
            <a:ext cx="4251960" cy="1792224"/>
            <a:chOff x="320040" y="2989912"/>
            <a:chExt cx="4251960" cy="2012032"/>
          </a:xfrm>
        </p:grpSpPr>
        <p:sp>
          <p:nvSpPr>
            <p:cNvPr id="81" name="Shape 79"/>
            <p:cNvSpPr/>
            <p:nvPr/>
          </p:nvSpPr>
          <p:spPr>
            <a:xfrm>
              <a:off x="320040" y="2989912"/>
              <a:ext cx="4251960" cy="201203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50800" dir="81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 81"/>
            <p:cNvSpPr/>
            <p:nvPr/>
          </p:nvSpPr>
          <p:spPr>
            <a:xfrm>
              <a:off x="320040" y="2989912"/>
              <a:ext cx="548640" cy="2012032"/>
            </a:xfrm>
            <a:prstGeom prst="rect">
              <a:avLst/>
            </a:prstGeom>
            <a:solidFill>
              <a:srgbClr val="F7C948"/>
            </a:solidFill>
            <a:ln/>
          </p:spPr>
          <p:txBody>
            <a:bodyPr/>
            <a:lstStyle/>
            <a:p>
              <a:pPr algn="ctr"/>
              <a:endParaRPr lang="ar-EG" sz="11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</a:endParaRPr>
            </a:p>
            <a:p>
              <a:pPr algn="ctr"/>
              <a:endParaRPr lang="ar-EG" sz="11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</a:endParaRPr>
            </a:p>
            <a:p>
              <a:pPr algn="ctr"/>
              <a:r>
                <a:rPr lang="en-US" sz="1100" b="1" dirty="0">
                  <a:solidFill>
                    <a:srgbClr val="0D0D0D"/>
                  </a:solidFill>
                  <a:latin typeface="Cambria" pitchFamily="34" charset="0"/>
                  <a:ea typeface="Cambria" pitchFamily="34" charset="-122"/>
                </a:rPr>
                <a:t>5</a:t>
              </a:r>
            </a:p>
          </p:txBody>
        </p:sp>
        <p:sp>
          <p:nvSpPr>
            <p:cNvPr id="84" name="Text 82"/>
            <p:cNvSpPr/>
            <p:nvPr/>
          </p:nvSpPr>
          <p:spPr>
            <a:xfrm>
              <a:off x="960120" y="3063240"/>
              <a:ext cx="34747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11827"/>
                  </a:solidFill>
                </a:rPr>
                <a:t>Initialize dbt Project</a:t>
              </a:r>
              <a:endParaRPr lang="en-US" sz="105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960120" y="3273552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0" b="1" dirty="0">
                  <a:solidFill>
                    <a:srgbClr val="D09E00"/>
                  </a:solidFill>
                  <a:latin typeface="Courier New" pitchFamily="34" charset="0"/>
                  <a:cs typeface="Courier New" pitchFamily="34" charset="-120"/>
                </a:rPr>
                <a:t>dbt init nyc_311_project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AF8F7FB-350A-592C-3925-C5FB19EC6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D09E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914020" y="3183343"/>
              <a:ext cx="1365372" cy="1580681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1" name="Yello-black">
            <a:extLst>
              <a:ext uri="{FF2B5EF4-FFF2-40B4-BE49-F238E27FC236}">
                <a16:creationId xmlns:a16="http://schemas.microsoft.com/office/drawing/2014/main" id="{C331AAC3-E0A7-EB00-DB8D-6AE3B4E5844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-124084" y="989731"/>
            <a:ext cx="9392168" cy="34016"/>
          </a:xfrm>
          <a:prstGeom prst="rect">
            <a:avLst/>
          </a:prstGeom>
        </p:spPr>
      </p:pic>
      <p:sp>
        <p:nvSpPr>
          <p:cNvPr id="13" name="Text 57">
            <a:extLst>
              <a:ext uri="{FF2B5EF4-FFF2-40B4-BE49-F238E27FC236}">
                <a16:creationId xmlns:a16="http://schemas.microsoft.com/office/drawing/2014/main" id="{9F63BE28-937B-BC8F-3375-CECCA92DC297}"/>
              </a:ext>
            </a:extLst>
          </p:cNvPr>
          <p:cNvSpPr/>
          <p:nvPr/>
        </p:nvSpPr>
        <p:spPr>
          <a:xfrm>
            <a:off x="7332345" y="-16110"/>
            <a:ext cx="1811655" cy="45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" name="Text 57">
            <a:extLst>
              <a:ext uri="{FF2B5EF4-FFF2-40B4-BE49-F238E27FC236}">
                <a16:creationId xmlns:a16="http://schemas.microsoft.com/office/drawing/2014/main" id="{1BB71BB5-FE05-1B57-3EC8-999D8D8ED9EB}"/>
              </a:ext>
            </a:extLst>
          </p:cNvPr>
          <p:cNvSpPr/>
          <p:nvPr/>
        </p:nvSpPr>
        <p:spPr>
          <a:xfrm>
            <a:off x="7323773" y="5879"/>
            <a:ext cx="1811655" cy="45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— dbt Modeling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A5C3D556-1013-CCAE-95A7-4EF99341A09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0210597"/>
                  </p:ext>
                </p:extLst>
              </p:nvPr>
            </p:nvGraphicFramePr>
            <p:xfrm>
              <a:off x="6716034" y="1254730"/>
              <a:ext cx="155448" cy="87440"/>
            </p:xfrm>
            <a:graphic>
              <a:graphicData uri="http://schemas.microsoft.com/office/powerpoint/2016/slidezoom">
                <pslz:sldZm>
                  <pslz:sldZmObj sldId="299" cId="967592982">
                    <pslz:zmPr id="{0FFAC7D6-34B5-4A17-83F2-59224DE004C9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5C3D556-1013-CCAE-95A7-4EF99341A0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16034" y="1254730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163F364C-E9AE-5CCE-0F27-A094590FDC8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92711187"/>
                  </p:ext>
                </p:extLst>
              </p:nvPr>
            </p:nvGraphicFramePr>
            <p:xfrm>
              <a:off x="6801378" y="3127724"/>
              <a:ext cx="155448" cy="87440"/>
            </p:xfrm>
            <a:graphic>
              <a:graphicData uri="http://schemas.microsoft.com/office/powerpoint/2016/slidezoom">
                <pslz:sldZm>
                  <pslz:sldZmObj sldId="300" cId="1902318053">
                    <pslz:zmPr id="{2ABAE151-031F-4660-87DF-265C349A174C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163F364C-E9AE-5CCE-0F27-A094590FDC8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01378" y="3127724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05FDF-8C04-55EF-6AC4-69D13C154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A92247-432F-0511-0FDB-E79B2D84509D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82EC04D8-BBFA-1A2F-57A2-A4C2F577C2DF}"/>
              </a:ext>
            </a:extLst>
          </p:cNvPr>
          <p:cNvSpPr/>
          <p:nvPr/>
        </p:nvSpPr>
        <p:spPr>
          <a:xfrm>
            <a:off x="3200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Auditing</a:t>
            </a:r>
            <a:endParaRPr lang="en-US" sz="20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CBF9FFE4-6BBE-8E92-215E-57BE9FF7F357}"/>
              </a:ext>
            </a:extLst>
          </p:cNvPr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7C948"/>
                </a:solidFill>
              </a:rPr>
              <a:t>Audit query  to choose the useful columns</a:t>
            </a:r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635C9C8C-491F-DB86-322D-FAE9DE4E9F48}"/>
              </a:ext>
            </a:extLst>
          </p:cNvPr>
          <p:cNvSpPr/>
          <p:nvPr/>
        </p:nvSpPr>
        <p:spPr>
          <a:xfrm>
            <a:off x="324612" y="1560957"/>
            <a:ext cx="502920" cy="637598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E5EB1150-CA1B-C798-CCD8-5FDE006A1618}"/>
              </a:ext>
            </a:extLst>
          </p:cNvPr>
          <p:cNvSpPr/>
          <p:nvPr/>
        </p:nvSpPr>
        <p:spPr>
          <a:xfrm>
            <a:off x="324612" y="1560957"/>
            <a:ext cx="502920" cy="92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AEAD89D8-BA71-597B-19D0-9C3995F44346}"/>
              </a:ext>
            </a:extLst>
          </p:cNvPr>
          <p:cNvSpPr/>
          <p:nvPr/>
        </p:nvSpPr>
        <p:spPr>
          <a:xfrm>
            <a:off x="324612" y="2254948"/>
            <a:ext cx="502920" cy="64008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FB0623EB-73CB-A8C7-C5E6-726CDBAE361B}"/>
              </a:ext>
            </a:extLst>
          </p:cNvPr>
          <p:cNvSpPr/>
          <p:nvPr/>
        </p:nvSpPr>
        <p:spPr>
          <a:xfrm>
            <a:off x="324612" y="2223664"/>
            <a:ext cx="502920" cy="97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1D4067EF-E9F6-CF63-1ACB-C475214B0F33}"/>
              </a:ext>
            </a:extLst>
          </p:cNvPr>
          <p:cNvSpPr/>
          <p:nvPr/>
        </p:nvSpPr>
        <p:spPr>
          <a:xfrm>
            <a:off x="324612" y="2974541"/>
            <a:ext cx="502920" cy="64008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CE420A34-9138-C23C-CDDB-73C9666986C7}"/>
              </a:ext>
            </a:extLst>
          </p:cNvPr>
          <p:cNvSpPr/>
          <p:nvPr/>
        </p:nvSpPr>
        <p:spPr>
          <a:xfrm>
            <a:off x="329184" y="3061410"/>
            <a:ext cx="502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DD968614-6D11-D448-6CD1-1430ED3128B3}"/>
              </a:ext>
            </a:extLst>
          </p:cNvPr>
          <p:cNvSpPr/>
          <p:nvPr/>
        </p:nvSpPr>
        <p:spPr>
          <a:xfrm>
            <a:off x="2166747" y="1382035"/>
            <a:ext cx="4114800" cy="3127248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B1A1B2DC-28CA-C502-621B-6994CD9ED8FD}"/>
              </a:ext>
            </a:extLst>
          </p:cNvPr>
          <p:cNvSpPr/>
          <p:nvPr/>
        </p:nvSpPr>
        <p:spPr>
          <a:xfrm>
            <a:off x="2166747" y="1382035"/>
            <a:ext cx="4114800" cy="73152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57C0B4EA-B1A4-09D7-E494-8AF53C46F004}"/>
              </a:ext>
            </a:extLst>
          </p:cNvPr>
          <p:cNvSpPr/>
          <p:nvPr/>
        </p:nvSpPr>
        <p:spPr>
          <a:xfrm>
            <a:off x="2285619" y="1473475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Table — Key Columns</a:t>
            </a:r>
            <a:endParaRPr lang="en-US" sz="120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FAC32677-B869-E357-E590-823C2630E97F}"/>
              </a:ext>
            </a:extLst>
          </p:cNvPr>
          <p:cNvSpPr/>
          <p:nvPr/>
        </p:nvSpPr>
        <p:spPr>
          <a:xfrm>
            <a:off x="2285619" y="1766083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CA3AF"/>
                </a:solidFill>
              </a:rPr>
              <a:t>الجدول الخام — أبرز الأعمدة</a:t>
            </a:r>
            <a:endParaRPr lang="en-US" sz="900" dirty="0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927F0F3F-18D4-F716-0E24-22B0DDD3298B}"/>
              </a:ext>
            </a:extLst>
          </p:cNvPr>
          <p:cNvSpPr/>
          <p:nvPr/>
        </p:nvSpPr>
        <p:spPr>
          <a:xfrm>
            <a:off x="2285619" y="2040403"/>
            <a:ext cx="1828800" cy="2468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70BBCAA5-2C1D-1E35-639B-82A23E0E8466}"/>
              </a:ext>
            </a:extLst>
          </p:cNvPr>
          <p:cNvSpPr/>
          <p:nvPr/>
        </p:nvSpPr>
        <p:spPr>
          <a:xfrm>
            <a:off x="2285619" y="2040403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unique_key</a:t>
            </a:r>
            <a:endParaRPr lang="en-US" sz="85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01B5A60E-2191-CF7F-1FB0-315A0D7241FD}"/>
              </a:ext>
            </a:extLst>
          </p:cNvPr>
          <p:cNvSpPr/>
          <p:nvPr/>
        </p:nvSpPr>
        <p:spPr>
          <a:xfrm>
            <a:off x="4242435" y="2040403"/>
            <a:ext cx="1828800" cy="2468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5C365266-E554-AAC2-267F-2916498C8547}"/>
              </a:ext>
            </a:extLst>
          </p:cNvPr>
          <p:cNvSpPr/>
          <p:nvPr/>
        </p:nvSpPr>
        <p:spPr>
          <a:xfrm>
            <a:off x="4242435" y="2040403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created_date</a:t>
            </a:r>
            <a:endParaRPr lang="en-US" sz="850" dirty="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8D2E49EB-C964-F9E5-49BF-A9A940BCFF0E}"/>
              </a:ext>
            </a:extLst>
          </p:cNvPr>
          <p:cNvSpPr/>
          <p:nvPr/>
        </p:nvSpPr>
        <p:spPr>
          <a:xfrm>
            <a:off x="2285619" y="2333011"/>
            <a:ext cx="1828800" cy="2468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8C6550BE-BC88-3BB3-FBFE-347057C04AC5}"/>
              </a:ext>
            </a:extLst>
          </p:cNvPr>
          <p:cNvSpPr/>
          <p:nvPr/>
        </p:nvSpPr>
        <p:spPr>
          <a:xfrm>
            <a:off x="2285619" y="2333011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closed_date</a:t>
            </a:r>
            <a:endParaRPr lang="en-US" sz="850" dirty="0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1C8D4246-B686-5709-7677-08E560D35028}"/>
              </a:ext>
            </a:extLst>
          </p:cNvPr>
          <p:cNvSpPr/>
          <p:nvPr/>
        </p:nvSpPr>
        <p:spPr>
          <a:xfrm>
            <a:off x="4242435" y="2333011"/>
            <a:ext cx="1828800" cy="2468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1BFC4368-2155-7A37-60F6-BA2BADB04EA7}"/>
              </a:ext>
            </a:extLst>
          </p:cNvPr>
          <p:cNvSpPr/>
          <p:nvPr/>
        </p:nvSpPr>
        <p:spPr>
          <a:xfrm>
            <a:off x="4242435" y="2333011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</a:t>
            </a:r>
            <a:endParaRPr lang="en-US" sz="850" dirty="0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8C53D1EC-B883-C4E6-20C4-A2291018A8EB}"/>
              </a:ext>
            </a:extLst>
          </p:cNvPr>
          <p:cNvSpPr/>
          <p:nvPr/>
        </p:nvSpPr>
        <p:spPr>
          <a:xfrm>
            <a:off x="2285619" y="2625619"/>
            <a:ext cx="1828800" cy="2468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5E3E61E5-C8CE-1EA2-204D-0193E5B366D2}"/>
              </a:ext>
            </a:extLst>
          </p:cNvPr>
          <p:cNvSpPr/>
          <p:nvPr/>
        </p:nvSpPr>
        <p:spPr>
          <a:xfrm>
            <a:off x="2285619" y="2625619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agency_name</a:t>
            </a:r>
            <a:endParaRPr lang="en-US" sz="850" dirty="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711803A2-FA06-E7EF-56E4-8714B1D7F986}"/>
              </a:ext>
            </a:extLst>
          </p:cNvPr>
          <p:cNvSpPr/>
          <p:nvPr/>
        </p:nvSpPr>
        <p:spPr>
          <a:xfrm>
            <a:off x="4242435" y="2625619"/>
            <a:ext cx="1828800" cy="2468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523C2D29-8D21-D378-513F-664A06146BC9}"/>
              </a:ext>
            </a:extLst>
          </p:cNvPr>
          <p:cNvSpPr/>
          <p:nvPr/>
        </p:nvSpPr>
        <p:spPr>
          <a:xfrm>
            <a:off x="4242435" y="2625619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complaint_type</a:t>
            </a:r>
            <a:endParaRPr lang="en-US" sz="850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0C8B1B7A-9C61-CBAC-ADED-7D08B86F4E76}"/>
              </a:ext>
            </a:extLst>
          </p:cNvPr>
          <p:cNvSpPr/>
          <p:nvPr/>
        </p:nvSpPr>
        <p:spPr>
          <a:xfrm>
            <a:off x="2285619" y="2918227"/>
            <a:ext cx="1828800" cy="2468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ACEB9E92-37C0-CFC5-E8DE-CE9B18992941}"/>
              </a:ext>
            </a:extLst>
          </p:cNvPr>
          <p:cNvSpPr/>
          <p:nvPr/>
        </p:nvSpPr>
        <p:spPr>
          <a:xfrm>
            <a:off x="2285619" y="2918227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descriptor</a:t>
            </a:r>
            <a:endParaRPr lang="en-US" sz="850" dirty="0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38592B37-C5B2-414A-7A04-B344428E034F}"/>
              </a:ext>
            </a:extLst>
          </p:cNvPr>
          <p:cNvSpPr/>
          <p:nvPr/>
        </p:nvSpPr>
        <p:spPr>
          <a:xfrm>
            <a:off x="4242435" y="2918227"/>
            <a:ext cx="1828800" cy="2468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A2570FA2-CE82-56D6-9EFF-DE47B034BD7E}"/>
              </a:ext>
            </a:extLst>
          </p:cNvPr>
          <p:cNvSpPr/>
          <p:nvPr/>
        </p:nvSpPr>
        <p:spPr>
          <a:xfrm>
            <a:off x="4242435" y="2918227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850" dirty="0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D06487F9-BBF8-539E-E443-3EC4AC3531ED}"/>
              </a:ext>
            </a:extLst>
          </p:cNvPr>
          <p:cNvSpPr/>
          <p:nvPr/>
        </p:nvSpPr>
        <p:spPr>
          <a:xfrm>
            <a:off x="2285619" y="3210835"/>
            <a:ext cx="1828800" cy="2468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7DFD29CF-D580-9C4F-C0A5-E03F45989871}"/>
              </a:ext>
            </a:extLst>
          </p:cNvPr>
          <p:cNvSpPr/>
          <p:nvPr/>
        </p:nvSpPr>
        <p:spPr>
          <a:xfrm>
            <a:off x="2285619" y="3210835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</a:t>
            </a:r>
            <a:endParaRPr lang="en-US" sz="850" dirty="0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F91F65A3-774F-1D56-C08A-3F61A7DB1E33}"/>
              </a:ext>
            </a:extLst>
          </p:cNvPr>
          <p:cNvSpPr/>
          <p:nvPr/>
        </p:nvSpPr>
        <p:spPr>
          <a:xfrm>
            <a:off x="4242435" y="3210835"/>
            <a:ext cx="1828800" cy="2468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80F2C69C-4EE2-8CDB-F8B1-6ABD749C17E1}"/>
              </a:ext>
            </a:extLst>
          </p:cNvPr>
          <p:cNvSpPr/>
          <p:nvPr/>
        </p:nvSpPr>
        <p:spPr>
          <a:xfrm>
            <a:off x="4242435" y="3210835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latitude</a:t>
            </a:r>
            <a:endParaRPr lang="en-US" sz="850" dirty="0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59078544-E223-CA25-E123-3AFBAC64EE11}"/>
              </a:ext>
            </a:extLst>
          </p:cNvPr>
          <p:cNvSpPr/>
          <p:nvPr/>
        </p:nvSpPr>
        <p:spPr>
          <a:xfrm>
            <a:off x="2285619" y="3503443"/>
            <a:ext cx="1828800" cy="2468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94CCA4D8-E64B-0753-B52A-CE5C28ADE547}"/>
              </a:ext>
            </a:extLst>
          </p:cNvPr>
          <p:cNvSpPr/>
          <p:nvPr/>
        </p:nvSpPr>
        <p:spPr>
          <a:xfrm>
            <a:off x="2285619" y="3503443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longitude</a:t>
            </a:r>
            <a:endParaRPr lang="en-US" sz="850" dirty="0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566D780D-FF93-BA5E-4879-D63C3EA1F6D0}"/>
              </a:ext>
            </a:extLst>
          </p:cNvPr>
          <p:cNvSpPr/>
          <p:nvPr/>
        </p:nvSpPr>
        <p:spPr>
          <a:xfrm>
            <a:off x="4242435" y="3503443"/>
            <a:ext cx="1828800" cy="2468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4">
            <a:extLst>
              <a:ext uri="{FF2B5EF4-FFF2-40B4-BE49-F238E27FC236}">
                <a16:creationId xmlns:a16="http://schemas.microsoft.com/office/drawing/2014/main" id="{8579B31D-789F-9D9D-D1F9-7EF5C966C60C}"/>
              </a:ext>
            </a:extLst>
          </p:cNvPr>
          <p:cNvSpPr/>
          <p:nvPr/>
        </p:nvSpPr>
        <p:spPr>
          <a:xfrm>
            <a:off x="4242435" y="3503443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50" dirty="0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8ED65F31-B3BC-E280-8408-01D58786ABA5}"/>
              </a:ext>
            </a:extLst>
          </p:cNvPr>
          <p:cNvSpPr/>
          <p:nvPr/>
        </p:nvSpPr>
        <p:spPr>
          <a:xfrm>
            <a:off x="2285619" y="3814339"/>
            <a:ext cx="3785616" cy="579650"/>
          </a:xfrm>
          <a:prstGeom prst="rect">
            <a:avLst/>
          </a:prstGeom>
          <a:solidFill>
            <a:srgbClr val="3D3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23C9E98E-D54B-13CF-3C2A-3D407F4C9BD7}"/>
              </a:ext>
            </a:extLst>
          </p:cNvPr>
          <p:cNvSpPr/>
          <p:nvPr/>
        </p:nvSpPr>
        <p:spPr>
          <a:xfrm>
            <a:off x="2285619" y="3814339"/>
            <a:ext cx="3785616" cy="57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</a:rPr>
              <a:t>+ 28 more columns  (40 total)</a:t>
            </a:r>
            <a:endParaRPr lang="ar-EG" sz="850" dirty="0">
              <a:solidFill>
                <a:srgbClr val="9CA3AF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</a:rPr>
              <a:t>Audit query was used to choose the useful columns</a:t>
            </a:r>
            <a:endParaRPr lang="en-US" sz="850" dirty="0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32857EB5-687F-42F7-78D0-212B871064FB}"/>
              </a:ext>
            </a:extLst>
          </p:cNvPr>
          <p:cNvSpPr/>
          <p:nvPr/>
        </p:nvSpPr>
        <p:spPr>
          <a:xfrm>
            <a:off x="329184" y="4767602"/>
            <a:ext cx="8503920" cy="73152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Yello-black">
            <a:extLst>
              <a:ext uri="{FF2B5EF4-FFF2-40B4-BE49-F238E27FC236}">
                <a16:creationId xmlns:a16="http://schemas.microsoft.com/office/drawing/2014/main" id="{032406E3-041B-178B-8B42-0613B350919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951631"/>
            <a:ext cx="9392168" cy="34016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E0427A4D-27E3-6763-CACD-FDE68B38F9B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17977411"/>
                  </p:ext>
                </p:extLst>
              </p:nvPr>
            </p:nvGraphicFramePr>
            <p:xfrm>
              <a:off x="5750814" y="3907569"/>
              <a:ext cx="182880" cy="102870"/>
            </p:xfrm>
            <a:graphic>
              <a:graphicData uri="http://schemas.microsoft.com/office/powerpoint/2016/slidezoom">
                <pslz:sldZm>
                  <pslz:sldZmObj sldId="276" cId="2646097880">
                    <pslz:zmPr id="{0485359D-D28A-4456-9F75-19CA9E1C7BE9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2880" cy="10287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3500" sx="102000" sy="102000" algn="ctr" rotWithShape="0">
                            <a:srgbClr val="110D0D">
                              <a:alpha val="4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E0427A4D-27E3-6763-CACD-FDE68B38F9B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50814" y="3907569"/>
                <a:ext cx="182880" cy="10287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3500" sx="102000" sy="102000" algn="ctr" rotWithShape="0">
                  <a:srgbClr val="110D0D">
                    <a:alpha val="4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p:sp>
        <p:nvSpPr>
          <p:cNvPr id="3" name="Shape 72">
            <a:extLst>
              <a:ext uri="{FF2B5EF4-FFF2-40B4-BE49-F238E27FC236}">
                <a16:creationId xmlns:a16="http://schemas.microsoft.com/office/drawing/2014/main" id="{8BB038DB-204D-2CA9-EE30-B231957D20C3}"/>
              </a:ext>
            </a:extLst>
          </p:cNvPr>
          <p:cNvSpPr/>
          <p:nvPr/>
        </p:nvSpPr>
        <p:spPr>
          <a:xfrm>
            <a:off x="329184" y="3701490"/>
            <a:ext cx="502920" cy="64008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dbt">
            <a:extLst>
              <a:ext uri="{FF2B5EF4-FFF2-40B4-BE49-F238E27FC236}">
                <a16:creationId xmlns:a16="http://schemas.microsoft.com/office/drawing/2014/main" id="{0D2A564D-E793-FCD0-8274-5F864096C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453089" y="4068244"/>
            <a:ext cx="295349" cy="295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EA211D-CA09-E0FF-7D30-D4898D530EE4}"/>
              </a:ext>
            </a:extLst>
          </p:cNvPr>
          <p:cNvSpPr txBox="1"/>
          <p:nvPr/>
        </p:nvSpPr>
        <p:spPr>
          <a:xfrm>
            <a:off x="306032" y="1254731"/>
            <a:ext cx="54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D09E00"/>
                </a:solidFill>
              </a:rPr>
              <a:t>DONE</a:t>
            </a:r>
            <a:endParaRPr lang="en-US" sz="1400" dirty="0">
              <a:solidFill>
                <a:srgbClr val="D09E00"/>
              </a:solidFill>
            </a:endParaRPr>
          </a:p>
        </p:txBody>
      </p:sp>
      <p:sp>
        <p:nvSpPr>
          <p:cNvPr id="13" name="Text 57">
            <a:extLst>
              <a:ext uri="{FF2B5EF4-FFF2-40B4-BE49-F238E27FC236}">
                <a16:creationId xmlns:a16="http://schemas.microsoft.com/office/drawing/2014/main" id="{B2DE1CC8-4E3F-6044-85C0-447B112E71DD}"/>
              </a:ext>
            </a:extLst>
          </p:cNvPr>
          <p:cNvSpPr/>
          <p:nvPr/>
        </p:nvSpPr>
        <p:spPr>
          <a:xfrm>
            <a:off x="7332345" y="-16110"/>
            <a:ext cx="1811655" cy="45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— dbt Modeling</a:t>
            </a:r>
          </a:p>
        </p:txBody>
      </p:sp>
      <p:sp>
        <p:nvSpPr>
          <p:cNvPr id="14" name="Shape 77">
            <a:extLst>
              <a:ext uri="{FF2B5EF4-FFF2-40B4-BE49-F238E27FC236}">
                <a16:creationId xmlns:a16="http://schemas.microsoft.com/office/drawing/2014/main" id="{6DE31BE1-C119-EBD1-1846-E9235D05BDE6}"/>
              </a:ext>
            </a:extLst>
          </p:cNvPr>
          <p:cNvSpPr/>
          <p:nvPr/>
        </p:nvSpPr>
        <p:spPr>
          <a:xfrm>
            <a:off x="7243191" y="1376087"/>
            <a:ext cx="1614678" cy="3127248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1200" b="1" dirty="0">
              <a:solidFill>
                <a:srgbClr val="FFFFFF"/>
              </a:solidFill>
            </a:endParaRPr>
          </a:p>
          <a:p>
            <a:r>
              <a:rPr lang="en-US" sz="1200" b="1" dirty="0">
                <a:solidFill>
                  <a:srgbClr val="FFFFFF"/>
                </a:solidFill>
              </a:rPr>
              <a:t>Staging view code</a:t>
            </a:r>
          </a:p>
        </p:txBody>
      </p:sp>
      <p:sp>
        <p:nvSpPr>
          <p:cNvPr id="15" name="Shape 78">
            <a:extLst>
              <a:ext uri="{FF2B5EF4-FFF2-40B4-BE49-F238E27FC236}">
                <a16:creationId xmlns:a16="http://schemas.microsoft.com/office/drawing/2014/main" id="{2C41EE5C-A1C6-5BBB-57AD-505245A2025C}"/>
              </a:ext>
            </a:extLst>
          </p:cNvPr>
          <p:cNvSpPr/>
          <p:nvPr/>
        </p:nvSpPr>
        <p:spPr>
          <a:xfrm>
            <a:off x="7218426" y="1376087"/>
            <a:ext cx="1614678" cy="73152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FD6077C3-4D7C-B364-3D7E-3730326E5F29}"/>
              </a:ext>
            </a:extLst>
          </p:cNvPr>
          <p:cNvSpPr/>
          <p:nvPr/>
        </p:nvSpPr>
        <p:spPr>
          <a:xfrm>
            <a:off x="1362075" y="2851818"/>
            <a:ext cx="594360" cy="321490"/>
          </a:xfrm>
          <a:prstGeom prst="homePlat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6AD333B1-D0A0-8DB2-244A-B6EDE90F5ECC}"/>
              </a:ext>
            </a:extLst>
          </p:cNvPr>
          <p:cNvSpPr/>
          <p:nvPr/>
        </p:nvSpPr>
        <p:spPr>
          <a:xfrm>
            <a:off x="6491859" y="2851818"/>
            <a:ext cx="594360" cy="321490"/>
          </a:xfrm>
          <a:prstGeom prst="homePlat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1DB39DEF-CF3C-1C19-BE90-6D0F02D51BD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70313"/>
                  </p:ext>
                </p:extLst>
              </p:nvPr>
            </p:nvGraphicFramePr>
            <p:xfrm>
              <a:off x="7817548" y="2114928"/>
              <a:ext cx="155448" cy="87440"/>
            </p:xfrm>
            <a:graphic>
              <a:graphicData uri="http://schemas.microsoft.com/office/powerpoint/2016/slidezoom">
                <pslz:sldZm>
                  <pslz:sldZmObj sldId="277" cId="4157590043">
                    <pslz:zmPr id="{E4EE0E09-7109-468E-B1AA-71C04FB04238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9" name="Slide Zoom 1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1DB39DEF-CF3C-1C19-BE90-6D0F02D51BD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17548" y="2114928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E242790-56D8-4172-CB9D-CBB708072397}"/>
              </a:ext>
            </a:extLst>
          </p:cNvPr>
          <p:cNvSpPr txBox="1"/>
          <p:nvPr/>
        </p:nvSpPr>
        <p:spPr>
          <a:xfrm>
            <a:off x="7218426" y="2555695"/>
            <a:ext cx="46958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Stag. view on Big Query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3" name="Slide Zoom 22">
                <a:extLst>
                  <a:ext uri="{FF2B5EF4-FFF2-40B4-BE49-F238E27FC236}">
                    <a16:creationId xmlns:a16="http://schemas.microsoft.com/office/drawing/2014/main" id="{718FAE7D-F6DB-2CC7-27D5-52A474B11B1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2683125"/>
                  </p:ext>
                </p:extLst>
              </p:nvPr>
            </p:nvGraphicFramePr>
            <p:xfrm>
              <a:off x="7895272" y="3187784"/>
              <a:ext cx="155448" cy="87440"/>
            </p:xfrm>
            <a:graphic>
              <a:graphicData uri="http://schemas.microsoft.com/office/powerpoint/2016/slidezoom">
                <pslz:sldZm>
                  <pslz:sldZmObj sldId="284" cId="2799063879">
                    <pslz:zmPr id="{73369894-86A6-4CCE-8CDE-AAB34E5FA31D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3" name="Slide Zoom 22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718FAE7D-F6DB-2CC7-27D5-52A474B11B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95272" y="3187784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5256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0E4DE93-2112-FAC2-8897-C4AD0E0637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2" r="2308"/>
          <a:stretch>
            <a:fillRect/>
          </a:stretch>
        </p:blipFill>
        <p:spPr>
          <a:xfrm>
            <a:off x="357087" y="1068440"/>
            <a:ext cx="8429826" cy="3442315"/>
          </a:xfrm>
          <a:prstGeom prst="rect">
            <a:avLst/>
          </a:prstGeom>
        </p:spPr>
      </p:pic>
      <p:sp>
        <p:nvSpPr>
          <p:cNvPr id="59" name="Text 57"/>
          <p:cNvSpPr/>
          <p:nvPr/>
        </p:nvSpPr>
        <p:spPr>
          <a:xfrm>
            <a:off x="3200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Star Schema Design</a:t>
            </a:r>
          </a:p>
        </p:txBody>
      </p:sp>
      <p:sp>
        <p:nvSpPr>
          <p:cNvPr id="60" name="Text 58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</a:rPr>
              <a:t>Staging VIEW → 4 Dimension Tables → 1 Central Fact Table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74320" y="4553712"/>
            <a:ext cx="859536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74320" y="4553712"/>
            <a:ext cx="8595360" cy="54864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</a:rPr>
              <a:t>Staging Layer: stg_nyc_311_requests (VIEW) — cleans raw data · selects 15 of 40 columns · fixes Timestamp types</a:t>
            </a:r>
            <a:endParaRPr lang="en-US" sz="950" dirty="0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31FCC654-BF38-A43E-5EA8-2637927FD05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24084" y="942106"/>
            <a:ext cx="9392168" cy="34016"/>
          </a:xfrm>
          <a:prstGeom prst="rect">
            <a:avLst/>
          </a:prstGeom>
        </p:spPr>
      </p:pic>
      <p:sp>
        <p:nvSpPr>
          <p:cNvPr id="7" name="Text 57">
            <a:extLst>
              <a:ext uri="{FF2B5EF4-FFF2-40B4-BE49-F238E27FC236}">
                <a16:creationId xmlns:a16="http://schemas.microsoft.com/office/drawing/2014/main" id="{D7BEEAEB-8754-F55B-6882-62F3D239D493}"/>
              </a:ext>
            </a:extLst>
          </p:cNvPr>
          <p:cNvSpPr/>
          <p:nvPr/>
        </p:nvSpPr>
        <p:spPr>
          <a:xfrm>
            <a:off x="7332345" y="-16110"/>
            <a:ext cx="1811655" cy="45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— dbt Modeling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018BB497-B04A-C0FD-61AF-BEDC03EA9FF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0443784"/>
                  </p:ext>
                </p:extLst>
              </p:nvPr>
            </p:nvGraphicFramePr>
            <p:xfrm>
              <a:off x="8445137" y="2444019"/>
              <a:ext cx="155448" cy="87440"/>
            </p:xfrm>
            <a:graphic>
              <a:graphicData uri="http://schemas.microsoft.com/office/powerpoint/2016/slidezoom">
                <pslz:sldZm>
                  <pslz:sldZmObj sldId="279" cId="3076240395">
                    <pslz:zmPr id="{7F424CD2-F0FD-42E4-95E2-861F388DE619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018BB497-B04A-C0FD-61AF-BEDC03EA9FF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45137" y="2444019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7C50AB82-FA49-9CAA-01BA-DFA54A60D08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35318382"/>
                  </p:ext>
                </p:extLst>
              </p:nvPr>
            </p:nvGraphicFramePr>
            <p:xfrm>
              <a:off x="6468292" y="3365727"/>
              <a:ext cx="155448" cy="87440"/>
            </p:xfrm>
            <a:graphic>
              <a:graphicData uri="http://schemas.microsoft.com/office/powerpoint/2016/slidezoom">
                <pslz:sldZm>
                  <pslz:sldZmObj sldId="281" cId="1149305036">
                    <pslz:zmPr id="{1F6D4780-3086-4BE5-9E5E-5D1C68BEE032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Slide Zoom 14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7C50AB82-FA49-9CAA-01BA-DFA54A60D0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68292" y="3365727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0FDFAFE9-CDEC-B549-1C46-E4CB27699C0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9456425"/>
                  </p:ext>
                </p:extLst>
              </p:nvPr>
            </p:nvGraphicFramePr>
            <p:xfrm>
              <a:off x="4082143" y="2206275"/>
              <a:ext cx="155448" cy="87440"/>
            </p:xfrm>
            <a:graphic>
              <a:graphicData uri="http://schemas.microsoft.com/office/powerpoint/2016/slidezoom">
                <pslz:sldZm>
                  <pslz:sldZmObj sldId="297" cId="562538284">
                    <pslz:zmPr id="{0D283897-C5CE-48FE-AA52-7467ED8B0068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Slide Zoom 17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0FDFAFE9-CDEC-B549-1C46-E4CB27699C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82143" y="2206275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2" name="Slide Zoom 21">
                <a:extLst>
                  <a:ext uri="{FF2B5EF4-FFF2-40B4-BE49-F238E27FC236}">
                    <a16:creationId xmlns:a16="http://schemas.microsoft.com/office/drawing/2014/main" id="{9CC35E5B-8B76-3C95-F5F8-9420A3809D7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20875735"/>
                  </p:ext>
                </p:extLst>
              </p:nvPr>
            </p:nvGraphicFramePr>
            <p:xfrm>
              <a:off x="8494559" y="4075060"/>
              <a:ext cx="155448" cy="87440"/>
            </p:xfrm>
            <a:graphic>
              <a:graphicData uri="http://schemas.microsoft.com/office/powerpoint/2016/slidezoom">
                <pslz:sldZm>
                  <pslz:sldZmObj sldId="280" cId="3049273339">
                    <pslz:zmPr id="{FACE2709-88CB-4379-96D8-3577153AE567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2" name="Slide Zoom 21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9CC35E5B-8B76-3C95-F5F8-9420A3809D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94559" y="4075060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DFAA6-2607-1709-F841-70686688F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92">
            <a:extLst>
              <a:ext uri="{FF2B5EF4-FFF2-40B4-BE49-F238E27FC236}">
                <a16:creationId xmlns:a16="http://schemas.microsoft.com/office/drawing/2014/main" id="{9EA35EF0-97E8-9574-C1AC-2DE3591AEC39}"/>
              </a:ext>
            </a:extLst>
          </p:cNvPr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Deployment </a:t>
            </a:r>
            <a:endParaRPr lang="en-US" sz="3600" dirty="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D46BE680-D002-DFD2-2439-BEB789726C6C}"/>
              </a:ext>
            </a:extLst>
          </p:cNvPr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Security: Workload Identity Federation</a:t>
            </a:r>
            <a:endParaRPr lang="en-US" sz="1600" dirty="0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0157165B-9901-0747-F863-C97265A212AE}"/>
              </a:ext>
            </a:extLst>
          </p:cNvPr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33382323-FA4A-AB28-4D71-BFFEC1E1E8CD}"/>
              </a:ext>
            </a:extLst>
          </p:cNvPr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9CA3AF"/>
                </a:solidFill>
              </a:rPr>
              <a:t>NYC 311 Service Requests  ·  Data Engineering Graduation Project  ·  DEPI 2026</a:t>
            </a:r>
            <a:endParaRPr lang="en-US" sz="1100" dirty="0"/>
          </a:p>
        </p:txBody>
      </p:sp>
      <p:pic>
        <p:nvPicPr>
          <p:cNvPr id="3" name="Yello-black">
            <a:extLst>
              <a:ext uri="{FF2B5EF4-FFF2-40B4-BE49-F238E27FC236}">
                <a16:creationId xmlns:a16="http://schemas.microsoft.com/office/drawing/2014/main" id="{3E5B98BA-F811-2911-42BD-F0CB9BC4317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24084" y="-9525"/>
            <a:ext cx="9392168" cy="34016"/>
          </a:xfrm>
          <a:prstGeom prst="rect">
            <a:avLst/>
          </a:prstGeom>
        </p:spPr>
      </p:pic>
      <p:sp>
        <p:nvSpPr>
          <p:cNvPr id="4" name="Text 57">
            <a:extLst>
              <a:ext uri="{FF2B5EF4-FFF2-40B4-BE49-F238E27FC236}">
                <a16:creationId xmlns:a16="http://schemas.microsoft.com/office/drawing/2014/main" id="{F0662005-B34A-4A82-CD42-919DE9E0CA86}"/>
              </a:ext>
            </a:extLst>
          </p:cNvPr>
          <p:cNvSpPr/>
          <p:nvPr/>
        </p:nvSpPr>
        <p:spPr>
          <a:xfrm>
            <a:off x="3200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 — CI/CD Deployment </a:t>
            </a:r>
          </a:p>
        </p:txBody>
      </p:sp>
    </p:spTree>
    <p:extLst>
      <p:ext uri="{BB962C8B-B14F-4D97-AF65-F5344CB8AC3E}">
        <p14:creationId xmlns:p14="http://schemas.microsoft.com/office/powerpoint/2010/main" val="1809669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2A9CE-A7E5-DFE4-CB1B-19E765E6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Yello-black">
            <a:extLst>
              <a:ext uri="{FF2B5EF4-FFF2-40B4-BE49-F238E27FC236}">
                <a16:creationId xmlns:a16="http://schemas.microsoft.com/office/drawing/2014/main" id="{3CB06EA7-14BC-7B70-35AF-5434335B101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24084" y="-9525"/>
            <a:ext cx="9392168" cy="34016"/>
          </a:xfrm>
          <a:prstGeom prst="rect">
            <a:avLst/>
          </a:prstGeom>
        </p:spPr>
      </p:pic>
      <p:sp>
        <p:nvSpPr>
          <p:cNvPr id="4" name="Text 57">
            <a:extLst>
              <a:ext uri="{FF2B5EF4-FFF2-40B4-BE49-F238E27FC236}">
                <a16:creationId xmlns:a16="http://schemas.microsoft.com/office/drawing/2014/main" id="{399FA457-332E-6B97-1736-20C7116B6122}"/>
              </a:ext>
            </a:extLst>
          </p:cNvPr>
          <p:cNvSpPr/>
          <p:nvPr/>
        </p:nvSpPr>
        <p:spPr>
          <a:xfrm>
            <a:off x="6749415" y="7483"/>
            <a:ext cx="23945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 — CI/CD Deployment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4AE4B-3566-209E-1051-B95BC292A2AB}"/>
              </a:ext>
            </a:extLst>
          </p:cNvPr>
          <p:cNvSpPr txBox="1"/>
          <p:nvPr/>
        </p:nvSpPr>
        <p:spPr>
          <a:xfrm>
            <a:off x="595312" y="926782"/>
            <a:ext cx="8434387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BBF00"/>
                </a:solidFill>
              </a:rPr>
              <a:t>1. Scheduled Batch Pipeline (GitHub Actions)</a:t>
            </a:r>
          </a:p>
          <a:p>
            <a:endParaRPr lang="ar-EG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• Fully automated CI/CD pipeline scheduled using </a:t>
            </a:r>
            <a:r>
              <a:rPr lang="en-US" sz="1400" dirty="0">
                <a:solidFill>
                  <a:srgbClr val="FBBF00"/>
                </a:solidFill>
              </a:rPr>
              <a:t>Cron</a:t>
            </a:r>
            <a:r>
              <a:rPr lang="en-US" sz="1600" dirty="0">
                <a:solidFill>
                  <a:srgbClr val="FFFFFF"/>
                </a:solidFill>
              </a:rPr>
              <a:t> job notation ('0 0 * * 0').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</a:t>
            </a:r>
            <a:r>
              <a:rPr lang="en-US" sz="1400" dirty="0">
                <a:solidFill>
                  <a:srgbClr val="FBBF00"/>
                </a:solidFill>
              </a:rPr>
              <a:t>(To be updated)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600" dirty="0">
                <a:solidFill>
                  <a:srgbClr val="FFFFFF"/>
                </a:solidFill>
              </a:rPr>
              <a:t>Triggers weekly batches dynamically to refresh data without human intervention.</a:t>
            </a:r>
          </a:p>
          <a:p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b="1" dirty="0">
                <a:solidFill>
                  <a:srgbClr val="FBBF00"/>
                </a:solidFill>
              </a:rPr>
              <a:t>2. Keyless Authentication via WIF</a:t>
            </a:r>
          </a:p>
          <a:p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• </a:t>
            </a:r>
            <a:r>
              <a:rPr lang="en-US" sz="1400" dirty="0">
                <a:solidFill>
                  <a:srgbClr val="FBBF00"/>
                </a:solidFill>
              </a:rPr>
              <a:t>Avoided</a:t>
            </a:r>
            <a:r>
              <a:rPr lang="en-US" sz="1600" dirty="0">
                <a:solidFill>
                  <a:srgbClr val="FFFFFF"/>
                </a:solidFill>
              </a:rPr>
              <a:t> static, long-lived Service Account </a:t>
            </a:r>
            <a:r>
              <a:rPr lang="en-US" sz="1400" dirty="0">
                <a:solidFill>
                  <a:srgbClr val="FBBF00"/>
                </a:solidFill>
              </a:rPr>
              <a:t>JSON keys </a:t>
            </a:r>
            <a:r>
              <a:rPr lang="en-US" sz="1600" dirty="0">
                <a:solidFill>
                  <a:srgbClr val="FFFFFF"/>
                </a:solidFill>
              </a:rPr>
              <a:t>entirely to ensure zero-trust security.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Implemented Workload Identity Federation (WIF) to exchange GitHub tokens for short-lived GCP credentials.</a:t>
            </a:r>
          </a:p>
          <a:p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b="1" dirty="0">
                <a:solidFill>
                  <a:srgbClr val="FBBF00"/>
                </a:solidFill>
              </a:rPr>
              <a:t>3. Execution Flow</a:t>
            </a:r>
          </a:p>
          <a:p>
            <a:endParaRPr lang="en-US" dirty="0"/>
          </a:p>
          <a:p>
            <a:r>
              <a:rPr lang="en-US" sz="1600" dirty="0">
                <a:solidFill>
                  <a:srgbClr val="FFFFFF"/>
                </a:solidFill>
              </a:rPr>
              <a:t>• Code checkout -&gt; WIF handshake -&gt; Install dbt -&gt; dbt run &amp; dbt test inside Google BigQuery.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BCA63-CE0B-F8D2-36B0-1F6A1866CDFB}"/>
              </a:ext>
            </a:extLst>
          </p:cNvPr>
          <p:cNvSpPr txBox="1"/>
          <p:nvPr/>
        </p:nvSpPr>
        <p:spPr>
          <a:xfrm>
            <a:off x="242887" y="132676"/>
            <a:ext cx="5253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Automated Orchestration &amp; Cloud Security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EBF0B98B-1275-5D28-EDB3-18A12DC0FF7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96522504"/>
                  </p:ext>
                </p:extLst>
              </p:nvPr>
            </p:nvGraphicFramePr>
            <p:xfrm>
              <a:off x="7394331" y="1515575"/>
              <a:ext cx="155448" cy="87440"/>
            </p:xfrm>
            <a:graphic>
              <a:graphicData uri="http://schemas.microsoft.com/office/powerpoint/2016/slidezoom">
                <pslz:sldZm>
                  <pslz:sldZmObj sldId="291" cId="3201872260">
                    <pslz:zmPr id="{C9CBEF9C-A6EB-44FE-9BD3-A7A2E3400514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BF0B98B-1275-5D28-EDB3-18A12DC0FF7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94331" y="1515575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3532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20040" y="45720"/>
            <a:ext cx="8179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Security: Workload Identity Federation</a:t>
            </a:r>
          </a:p>
        </p:txBody>
      </p:sp>
      <p:sp>
        <p:nvSpPr>
          <p:cNvPr id="60" name="Text 58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</a:rPr>
              <a:t>Connecting GitHub Actions to Google Cloud — zero JSON keys stored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" y="1143000"/>
            <a:ext cx="4160520" cy="59436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38912" y="1234440"/>
            <a:ext cx="402336" cy="402336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38912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</a:rPr>
              <a:t>1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60120" y="11978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Create Identity Pool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960120" y="14538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</a:rPr>
              <a:t>أنشئ Identity Pool  ·  depi-pool — in Google Cloud Shell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1792" y="1737360"/>
            <a:ext cx="0" cy="82296"/>
          </a:xfrm>
          <a:prstGeom prst="line">
            <a:avLst/>
          </a:prstGeom>
          <a:noFill/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20040" y="1819656"/>
            <a:ext cx="4160520" cy="59436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38912" y="1911096"/>
            <a:ext cx="402336" cy="402336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38912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</a:rPr>
              <a:t>2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960120" y="18745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Create Identity Provider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960120" y="21305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</a:rPr>
              <a:t>أنشئ مزود الهوية  ·  github-provider — links to github.com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21792" y="2414016"/>
            <a:ext cx="0" cy="82296"/>
          </a:xfrm>
          <a:prstGeom prst="line">
            <a:avLst/>
          </a:prstGeom>
          <a:noFill/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20040" y="2496312"/>
            <a:ext cx="4160520" cy="59436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38912" y="2587752"/>
            <a:ext cx="402336" cy="402336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389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</a:rPr>
              <a:t>3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60120" y="25511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Create Service Account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960120" y="2807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</a:rPr>
              <a:t>أنشئ حساب الخدمة  ·  github-action-bot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21792" y="3090672"/>
            <a:ext cx="0" cy="82296"/>
          </a:xfrm>
          <a:prstGeom prst="line">
            <a:avLst/>
          </a:prstGeom>
          <a:noFill/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20040" y="3172968"/>
            <a:ext cx="4160520" cy="59436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38912" y="3264408"/>
            <a:ext cx="402336" cy="402336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38912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</a:rPr>
              <a:t>4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60120" y="3227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Grant 3 IAM Roles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960120" y="34838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</a:rPr>
              <a:t>امنح 3 صلاحيات IAM  ·  BigQuery Admin · Data Editor · Job User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21792" y="3767328"/>
            <a:ext cx="0" cy="82296"/>
          </a:xfrm>
          <a:prstGeom prst="line">
            <a:avLst/>
          </a:prstGeom>
          <a:noFill/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320040" y="3849624"/>
            <a:ext cx="4160520" cy="59436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438912" y="3941064"/>
            <a:ext cx="402336" cy="402336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38912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</a:rPr>
              <a:t>5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60120" y="39044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Bind Provider → Service Account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960120" y="41605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</a:rPr>
              <a:t>اربط المزود بحساب الخدمة  ·  GitHub gets temporary secure credentials only</a:t>
            </a:r>
            <a:endParaRPr lang="en-US" sz="850" dirty="0"/>
          </a:p>
        </p:txBody>
      </p:sp>
      <p:pic>
        <p:nvPicPr>
          <p:cNvPr id="10" name="Yello-black">
            <a:extLst>
              <a:ext uri="{FF2B5EF4-FFF2-40B4-BE49-F238E27FC236}">
                <a16:creationId xmlns:a16="http://schemas.microsoft.com/office/drawing/2014/main" id="{883271D7-617A-20C6-0F69-4F2710E0EA3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989731"/>
            <a:ext cx="9392168" cy="34016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0F8B35D8-930C-BC3D-5923-1AF80EBCF70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2575835"/>
                  </p:ext>
                </p:extLst>
              </p:nvPr>
            </p:nvGraphicFramePr>
            <p:xfrm>
              <a:off x="8499944" y="4443984"/>
              <a:ext cx="155448" cy="87440"/>
            </p:xfrm>
            <a:graphic>
              <a:graphicData uri="http://schemas.microsoft.com/office/powerpoint/2016/slidezoom">
                <pslz:sldZm>
                  <pslz:sldZmObj sldId="286" cId="3967938507">
                    <pslz:zmPr id="{6E3B8CEA-B8A3-4992-B640-778F2BDF839A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0F8B35D8-930C-BC3D-5923-1AF80EBCF70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99944" y="4443984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DC92370E-54DD-D65F-0BEA-C729A7D182C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09812366"/>
                  </p:ext>
                </p:extLst>
              </p:nvPr>
            </p:nvGraphicFramePr>
            <p:xfrm>
              <a:off x="4254544" y="2215038"/>
              <a:ext cx="155448" cy="87440"/>
            </p:xfrm>
            <a:graphic>
              <a:graphicData uri="http://schemas.microsoft.com/office/powerpoint/2016/slidezoom">
                <pslz:sldZm>
                  <pslz:sldZmObj sldId="287" cId="3426017394">
                    <pslz:zmPr id="{F656790E-381D-4C5F-A3FA-1D775C97A95C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DC92370E-54DD-D65F-0BEA-C729A7D182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54544" y="2215038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D86A2F8D-DAAE-3D37-8790-B74707E899F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6413147"/>
                  </p:ext>
                </p:extLst>
              </p:nvPr>
            </p:nvGraphicFramePr>
            <p:xfrm>
              <a:off x="4254544" y="2880360"/>
              <a:ext cx="155448" cy="87440"/>
            </p:xfrm>
            <a:graphic>
              <a:graphicData uri="http://schemas.microsoft.com/office/powerpoint/2016/slidezoom">
                <pslz:sldZm>
                  <pslz:sldZmObj sldId="288" cId="2335059413">
                    <pslz:zmPr id="{F12D29D2-BCD8-460C-B89B-2ECB8F0B2D81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D86A2F8D-DAAE-3D37-8790-B74707E899F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54544" y="2880360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F48AD0E6-52D6-666E-7D0F-750F29FE971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6350370"/>
                  </p:ext>
                </p:extLst>
              </p:nvPr>
            </p:nvGraphicFramePr>
            <p:xfrm>
              <a:off x="4254544" y="3597783"/>
              <a:ext cx="155448" cy="87440"/>
            </p:xfrm>
            <a:graphic>
              <a:graphicData uri="http://schemas.microsoft.com/office/powerpoint/2016/slidezoom">
                <pslz:sldZm>
                  <pslz:sldZmObj sldId="289" cId="3427377357">
                    <pslz:zmPr id="{6DFDA083-6312-43EF-B987-030494E81E45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Slide Zoom 17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F48AD0E6-52D6-666E-7D0F-750F29FE97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54544" y="3597783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0" name="Slide Zoom 19">
                <a:extLst>
                  <a:ext uri="{FF2B5EF4-FFF2-40B4-BE49-F238E27FC236}">
                    <a16:creationId xmlns:a16="http://schemas.microsoft.com/office/drawing/2014/main" id="{88EFAB0B-EB1C-2DDD-A10D-2FCD1A332BD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66440460"/>
                  </p:ext>
                </p:extLst>
              </p:nvPr>
            </p:nvGraphicFramePr>
            <p:xfrm>
              <a:off x="4254544" y="4255960"/>
              <a:ext cx="155448" cy="87440"/>
            </p:xfrm>
            <a:graphic>
              <a:graphicData uri="http://schemas.microsoft.com/office/powerpoint/2016/slidezoom">
                <pslz:sldZm>
                  <pslz:sldZmObj sldId="290" cId="99536639">
                    <pslz:zmPr id="{FB1BEBDC-B985-4215-9620-8A47CCF39A48}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0" name="Slide Zoom 19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88EFAB0B-EB1C-2DDD-A10D-2FCD1A332B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54544" y="4255960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p:sp>
        <p:nvSpPr>
          <p:cNvPr id="3" name="Text 57">
            <a:extLst>
              <a:ext uri="{FF2B5EF4-FFF2-40B4-BE49-F238E27FC236}">
                <a16:creationId xmlns:a16="http://schemas.microsoft.com/office/drawing/2014/main" id="{6BC329A3-8DAD-79FB-7710-9BF301CE68CD}"/>
              </a:ext>
            </a:extLst>
          </p:cNvPr>
          <p:cNvSpPr/>
          <p:nvPr/>
        </p:nvSpPr>
        <p:spPr>
          <a:xfrm>
            <a:off x="6873499" y="-22860"/>
            <a:ext cx="23945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 — CI/CD Deployment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AFC98-602E-7CE9-DBA6-979DE1656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5D1096-0121-31C1-2B46-1E002E369429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AEC09126-D1DD-8B08-1B5C-1DDE131670B2}"/>
              </a:ext>
            </a:extLst>
          </p:cNvPr>
          <p:cNvSpPr/>
          <p:nvPr/>
        </p:nvSpPr>
        <p:spPr>
          <a:xfrm>
            <a:off x="320040" y="45720"/>
            <a:ext cx="8179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Milestone 3 — Security: Workload Identity Federation</a:t>
            </a: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F0122200-D6ED-9534-F4DC-40878FEDC036}"/>
              </a:ext>
            </a:extLst>
          </p:cNvPr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</a:rPr>
              <a:t>Connecting GitHub Actions to Google Cloud — zero JSON keys stored</a:t>
            </a:r>
            <a:endParaRPr lang="en-US" sz="1100" dirty="0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E12EC1D3-BC97-AD85-A957-176E97C814C3}"/>
              </a:ext>
            </a:extLst>
          </p:cNvPr>
          <p:cNvSpPr/>
          <p:nvPr/>
        </p:nvSpPr>
        <p:spPr>
          <a:xfrm>
            <a:off x="320040" y="1508760"/>
            <a:ext cx="4160520" cy="2176272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9D0703AD-F731-47A8-1C24-30D2D8DC23D2}"/>
              </a:ext>
            </a:extLst>
          </p:cNvPr>
          <p:cNvSpPr/>
          <p:nvPr/>
        </p:nvSpPr>
        <p:spPr>
          <a:xfrm>
            <a:off x="320040" y="1508760"/>
            <a:ext cx="4160520" cy="73152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46CFACD9-FF92-00C8-A623-9FC98B4FD38F}"/>
              </a:ext>
            </a:extLst>
          </p:cNvPr>
          <p:cNvSpPr/>
          <p:nvPr/>
        </p:nvSpPr>
        <p:spPr>
          <a:xfrm>
            <a:off x="429768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00"/>
                </a:solidFill>
              </a:rPr>
              <a:t>GitHub Actions </a:t>
            </a:r>
            <a:r>
              <a:rPr lang="en-US" sz="1050" b="1" dirty="0">
                <a:solidFill>
                  <a:srgbClr val="FFFFFF"/>
                </a:solidFill>
              </a:rPr>
              <a:t>— nyc_311_refresh.yml</a:t>
            </a:r>
            <a:endParaRPr lang="en-US" sz="1050" dirty="0"/>
          </a:p>
        </p:txBody>
      </p:sp>
      <p:pic>
        <p:nvPicPr>
          <p:cNvPr id="10" name="Yello-black">
            <a:extLst>
              <a:ext uri="{FF2B5EF4-FFF2-40B4-BE49-F238E27FC236}">
                <a16:creationId xmlns:a16="http://schemas.microsoft.com/office/drawing/2014/main" id="{2148F250-D92F-129A-AF8E-0CD2489FF9B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989731"/>
            <a:ext cx="9392168" cy="3401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45EC556-2B08-025A-C4D8-E9C580FB62FE}"/>
              </a:ext>
            </a:extLst>
          </p:cNvPr>
          <p:cNvGrpSpPr/>
          <p:nvPr/>
        </p:nvGrpSpPr>
        <p:grpSpPr>
          <a:xfrm>
            <a:off x="3687318" y="1883664"/>
            <a:ext cx="4160520" cy="1572768"/>
            <a:chOff x="4663440" y="3429000"/>
            <a:chExt cx="4160520" cy="1572768"/>
          </a:xfrm>
        </p:grpSpPr>
        <p:sp>
          <p:nvSpPr>
            <p:cNvPr id="5" name="Shape 92">
              <a:extLst>
                <a:ext uri="{FF2B5EF4-FFF2-40B4-BE49-F238E27FC236}">
                  <a16:creationId xmlns:a16="http://schemas.microsoft.com/office/drawing/2014/main" id="{0553292D-7C95-C292-1432-EF0941E83680}"/>
                </a:ext>
              </a:extLst>
            </p:cNvPr>
            <p:cNvSpPr/>
            <p:nvPr/>
          </p:nvSpPr>
          <p:spPr>
            <a:xfrm>
              <a:off x="4663440" y="3429000"/>
              <a:ext cx="4160520" cy="1572768"/>
            </a:xfrm>
            <a:prstGeom prst="rect">
              <a:avLst/>
            </a:prstGeom>
            <a:solidFill>
              <a:srgbClr val="1A1A1A"/>
            </a:solidFill>
            <a:ln/>
            <a:effectLst>
              <a:outerShdw blurRad="127000" dist="50800" dir="81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93">
              <a:extLst>
                <a:ext uri="{FF2B5EF4-FFF2-40B4-BE49-F238E27FC236}">
                  <a16:creationId xmlns:a16="http://schemas.microsoft.com/office/drawing/2014/main" id="{0AEE9718-2730-0384-A7DB-AC451565040E}"/>
                </a:ext>
              </a:extLst>
            </p:cNvPr>
            <p:cNvSpPr/>
            <p:nvPr/>
          </p:nvSpPr>
          <p:spPr>
            <a:xfrm>
              <a:off x="4663440" y="3429000"/>
              <a:ext cx="4160520" cy="73152"/>
            </a:xfrm>
            <a:prstGeom prst="rect">
              <a:avLst/>
            </a:prstGeom>
            <a:solidFill>
              <a:srgbClr val="F7C94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94">
              <a:extLst>
                <a:ext uri="{FF2B5EF4-FFF2-40B4-BE49-F238E27FC236}">
                  <a16:creationId xmlns:a16="http://schemas.microsoft.com/office/drawing/2014/main" id="{33B011DE-AA01-BF17-A590-3D05B2098D6A}"/>
                </a:ext>
              </a:extLst>
            </p:cNvPr>
            <p:cNvSpPr/>
            <p:nvPr/>
          </p:nvSpPr>
          <p:spPr>
            <a:xfrm>
              <a:off x="4773168" y="352044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What CI/CD Means Here</a:t>
              </a:r>
              <a:endParaRPr lang="en-US" sz="1100" dirty="0"/>
            </a:p>
          </p:txBody>
        </p:sp>
        <p:sp>
          <p:nvSpPr>
            <p:cNvPr id="8" name="Shape 95">
              <a:extLst>
                <a:ext uri="{FF2B5EF4-FFF2-40B4-BE49-F238E27FC236}">
                  <a16:creationId xmlns:a16="http://schemas.microsoft.com/office/drawing/2014/main" id="{46C76A67-C8EF-4BB5-0F66-84611C6554EC}"/>
                </a:ext>
              </a:extLst>
            </p:cNvPr>
            <p:cNvSpPr/>
            <p:nvPr/>
          </p:nvSpPr>
          <p:spPr>
            <a:xfrm>
              <a:off x="4773168" y="3877056"/>
              <a:ext cx="329184" cy="256032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96">
              <a:extLst>
                <a:ext uri="{FF2B5EF4-FFF2-40B4-BE49-F238E27FC236}">
                  <a16:creationId xmlns:a16="http://schemas.microsoft.com/office/drawing/2014/main" id="{BE617F39-10BA-B87C-0343-C34427235987}"/>
                </a:ext>
              </a:extLst>
            </p:cNvPr>
            <p:cNvSpPr/>
            <p:nvPr/>
          </p:nvSpPr>
          <p:spPr>
            <a:xfrm>
              <a:off x="4773168" y="3877056"/>
              <a:ext cx="32918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D0D0D"/>
                  </a:solidFill>
                </a:rPr>
                <a:t>CI</a:t>
              </a:r>
              <a:endParaRPr lang="en-US" sz="800" dirty="0"/>
            </a:p>
          </p:txBody>
        </p:sp>
        <p:sp>
          <p:nvSpPr>
            <p:cNvPr id="11" name="Text 97">
              <a:extLst>
                <a:ext uri="{FF2B5EF4-FFF2-40B4-BE49-F238E27FC236}">
                  <a16:creationId xmlns:a16="http://schemas.microsoft.com/office/drawing/2014/main" id="{A1D042B7-9E71-167E-6E68-F333A12B4346}"/>
                </a:ext>
              </a:extLst>
            </p:cNvPr>
            <p:cNvSpPr/>
            <p:nvPr/>
          </p:nvSpPr>
          <p:spPr>
            <a:xfrm>
              <a:off x="5166360" y="3858768"/>
              <a:ext cx="3520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9CA3AF"/>
                  </a:solidFill>
                </a:rPr>
                <a:t>Auto-install libs · dbt test on every push</a:t>
              </a:r>
              <a:endParaRPr lang="en-US" sz="900" dirty="0"/>
            </a:p>
          </p:txBody>
        </p:sp>
        <p:sp>
          <p:nvSpPr>
            <p:cNvPr id="12" name="Shape 98">
              <a:extLst>
                <a:ext uri="{FF2B5EF4-FFF2-40B4-BE49-F238E27FC236}">
                  <a16:creationId xmlns:a16="http://schemas.microsoft.com/office/drawing/2014/main" id="{9865120E-F643-023E-B535-FB6919F52654}"/>
                </a:ext>
              </a:extLst>
            </p:cNvPr>
            <p:cNvSpPr/>
            <p:nvPr/>
          </p:nvSpPr>
          <p:spPr>
            <a:xfrm>
              <a:off x="4773168" y="4224528"/>
              <a:ext cx="329184" cy="256032"/>
            </a:xfrm>
            <a:prstGeom prst="rect">
              <a:avLst/>
            </a:prstGeom>
            <a:solidFill>
              <a:srgbClr val="22C55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99">
              <a:extLst>
                <a:ext uri="{FF2B5EF4-FFF2-40B4-BE49-F238E27FC236}">
                  <a16:creationId xmlns:a16="http://schemas.microsoft.com/office/drawing/2014/main" id="{F27D5B3D-268C-DC96-C0EF-66CBA6B73D8B}"/>
                </a:ext>
              </a:extLst>
            </p:cNvPr>
            <p:cNvSpPr/>
            <p:nvPr/>
          </p:nvSpPr>
          <p:spPr>
            <a:xfrm>
              <a:off x="4773168" y="4224528"/>
              <a:ext cx="32918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D0D0D"/>
                  </a:solidFill>
                </a:rPr>
                <a:t>CD</a:t>
              </a:r>
              <a:endParaRPr lang="en-US" sz="800" dirty="0"/>
            </a:p>
          </p:txBody>
        </p:sp>
        <p:sp>
          <p:nvSpPr>
            <p:cNvPr id="14" name="Text 100">
              <a:extLst>
                <a:ext uri="{FF2B5EF4-FFF2-40B4-BE49-F238E27FC236}">
                  <a16:creationId xmlns:a16="http://schemas.microsoft.com/office/drawing/2014/main" id="{E7698A93-ACB9-62F4-0BCC-A0018B69B2BB}"/>
                </a:ext>
              </a:extLst>
            </p:cNvPr>
            <p:cNvSpPr/>
            <p:nvPr/>
          </p:nvSpPr>
          <p:spPr>
            <a:xfrm>
              <a:off x="5166360" y="4206240"/>
              <a:ext cx="3520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9CA3AF"/>
                  </a:solidFill>
                </a:rPr>
                <a:t>Cron deploys fresh data (coming update) every Sunday to BigQuery production</a:t>
              </a:r>
              <a:endParaRPr lang="en-US" sz="900" dirty="0"/>
            </a:p>
          </p:txBody>
        </p:sp>
        <p:sp>
          <p:nvSpPr>
            <p:cNvPr id="15" name="Shape 101">
              <a:extLst>
                <a:ext uri="{FF2B5EF4-FFF2-40B4-BE49-F238E27FC236}">
                  <a16:creationId xmlns:a16="http://schemas.microsoft.com/office/drawing/2014/main" id="{CDCC4FC9-9436-7E55-7B20-3AC0AFF9BBB3}"/>
                </a:ext>
              </a:extLst>
            </p:cNvPr>
            <p:cNvSpPr/>
            <p:nvPr/>
          </p:nvSpPr>
          <p:spPr>
            <a:xfrm>
              <a:off x="4773168" y="4572000"/>
              <a:ext cx="329184" cy="256032"/>
            </a:xfrm>
            <a:prstGeom prst="rect">
              <a:avLst/>
            </a:prstGeom>
            <a:solidFill>
              <a:srgbClr val="F7C94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02">
              <a:extLst>
                <a:ext uri="{FF2B5EF4-FFF2-40B4-BE49-F238E27FC236}">
                  <a16:creationId xmlns:a16="http://schemas.microsoft.com/office/drawing/2014/main" id="{0605C431-1E2A-08A6-746D-26751DA1BBD2}"/>
                </a:ext>
              </a:extLst>
            </p:cNvPr>
            <p:cNvSpPr/>
            <p:nvPr/>
          </p:nvSpPr>
          <p:spPr>
            <a:xfrm>
              <a:off x="4773168" y="4572000"/>
              <a:ext cx="32918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D0D0D"/>
                  </a:solidFill>
                </a:rPr>
                <a:t>🔒</a:t>
              </a:r>
              <a:endParaRPr lang="en-US" sz="800" dirty="0"/>
            </a:p>
          </p:txBody>
        </p:sp>
        <p:sp>
          <p:nvSpPr>
            <p:cNvPr id="17" name="Text 103">
              <a:extLst>
                <a:ext uri="{FF2B5EF4-FFF2-40B4-BE49-F238E27FC236}">
                  <a16:creationId xmlns:a16="http://schemas.microsoft.com/office/drawing/2014/main" id="{F7A9E0BB-DB7B-C415-1934-CC3815B19615}"/>
                </a:ext>
              </a:extLst>
            </p:cNvPr>
            <p:cNvSpPr/>
            <p:nvPr/>
          </p:nvSpPr>
          <p:spPr>
            <a:xfrm>
              <a:off x="5166360" y="4553712"/>
              <a:ext cx="3520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9CA3AF"/>
                  </a:solidFill>
                </a:rPr>
                <a:t>WIF issues short-lived tokens — no keys in the repo ever</a:t>
              </a:r>
              <a:endParaRPr lang="en-US" sz="900" dirty="0"/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4ADE7171-4A2D-312F-87AE-3EA6DEBECA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0755054"/>
                  </p:ext>
                </p:extLst>
              </p:nvPr>
            </p:nvGraphicFramePr>
            <p:xfrm>
              <a:off x="1848231" y="2692336"/>
              <a:ext cx="155448" cy="87440"/>
            </p:xfrm>
            <a:graphic>
              <a:graphicData uri="http://schemas.microsoft.com/office/powerpoint/2016/slidezoom">
                <pslz:sldZm>
                  <pslz:sldZmObj sldId="291" cId="3201872260">
                    <pslz:zmPr id="{EF3FA2A2-E390-4932-A038-719E272A81AA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9" name="Slide Zoom 18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4ADE7171-4A2D-312F-87AE-3EA6DEBECA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8231" y="2692336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3758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AFAB0C-38BC-3091-1BF4-634C2C8A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92">
            <a:extLst>
              <a:ext uri="{FF2B5EF4-FFF2-40B4-BE49-F238E27FC236}">
                <a16:creationId xmlns:a16="http://schemas.microsoft.com/office/drawing/2014/main" id="{C426AD86-3497-B2B5-50E3-E0183CB2E9C2}"/>
              </a:ext>
            </a:extLst>
          </p:cNvPr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Automation</a:t>
            </a:r>
            <a:endParaRPr lang="en-US" sz="3600" dirty="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4723436B-6A00-DCD1-B8EF-B2192155FD4F}"/>
              </a:ext>
            </a:extLst>
          </p:cNvPr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892439DC-A25D-29F2-1357-E107AA8C2F3F}"/>
              </a:ext>
            </a:extLst>
          </p:cNvPr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pPr algn="ctr"/>
            <a:endParaRPr lang="ar-EG" sz="1100" dirty="0">
              <a:solidFill>
                <a:srgbClr val="FFFFFF"/>
              </a:solidFill>
            </a:endParaRPr>
          </a:p>
          <a:p>
            <a:pPr algn="ctr"/>
            <a:endParaRPr lang="ar-EG" sz="1100" dirty="0">
              <a:solidFill>
                <a:srgbClr val="FFFFFF"/>
              </a:solidFill>
            </a:endParaRPr>
          </a:p>
          <a:p>
            <a:pPr algn="ctr"/>
            <a:r>
              <a:rPr lang="en-US" sz="1100" dirty="0">
                <a:solidFill>
                  <a:srgbClr val="9CA3AF"/>
                </a:solidFill>
              </a:rPr>
              <a:t>NYC 311 Service Requests  ·  Data Engineering Graduation Project  ·  DEPI 2026</a:t>
            </a:r>
            <a:endParaRPr lang="en-US" sz="1100" dirty="0"/>
          </a:p>
        </p:txBody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8764A56A-A341-1529-0F3F-07295A75CCAE}"/>
              </a:ext>
            </a:extLst>
          </p:cNvPr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100" dirty="0"/>
          </a:p>
        </p:txBody>
      </p:sp>
      <p:pic>
        <p:nvPicPr>
          <p:cNvPr id="3" name="Yello-black">
            <a:extLst>
              <a:ext uri="{FF2B5EF4-FFF2-40B4-BE49-F238E27FC236}">
                <a16:creationId xmlns:a16="http://schemas.microsoft.com/office/drawing/2014/main" id="{EB6A4513-8927-B8C0-E32E-047DB7AD8E5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24084" y="-9525"/>
            <a:ext cx="9392168" cy="34016"/>
          </a:xfrm>
          <a:prstGeom prst="rect">
            <a:avLst/>
          </a:prstGeom>
        </p:spPr>
      </p:pic>
      <p:sp>
        <p:nvSpPr>
          <p:cNvPr id="4" name="Text 57">
            <a:extLst>
              <a:ext uri="{FF2B5EF4-FFF2-40B4-BE49-F238E27FC236}">
                <a16:creationId xmlns:a16="http://schemas.microsoft.com/office/drawing/2014/main" id="{2464E1C2-61E5-B339-EB92-7530B9733A76}"/>
              </a:ext>
            </a:extLst>
          </p:cNvPr>
          <p:cNvSpPr/>
          <p:nvPr/>
        </p:nvSpPr>
        <p:spPr>
          <a:xfrm>
            <a:off x="3200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</a:t>
            </a:r>
            <a:r>
              <a:rPr lang="ar-EG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Monitoring &amp; Automation</a:t>
            </a:r>
          </a:p>
        </p:txBody>
      </p:sp>
    </p:spTree>
    <p:extLst>
      <p:ext uri="{BB962C8B-B14F-4D97-AF65-F5344CB8AC3E}">
        <p14:creationId xmlns:p14="http://schemas.microsoft.com/office/powerpoint/2010/main" val="3879371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92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4800" dirty="0"/>
          </a:p>
        </p:txBody>
      </p:sp>
      <p:sp>
        <p:nvSpPr>
          <p:cNvPr id="95" name="Text 9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dbt data quality tests · anomaly detection · automation outcomes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9CA3AF"/>
                </a:solidFill>
              </a:rPr>
              <a:t>NYC 311 Service Requests  ·  Data Engineering Graduation Project  ·  DEPI 2026</a:t>
            </a:r>
            <a:endParaRPr lang="en-US" sz="1100" dirty="0"/>
          </a:p>
        </p:txBody>
      </p:sp>
      <p:pic>
        <p:nvPicPr>
          <p:cNvPr id="2" name="Yello-black">
            <a:extLst>
              <a:ext uri="{FF2B5EF4-FFF2-40B4-BE49-F238E27FC236}">
                <a16:creationId xmlns:a16="http://schemas.microsoft.com/office/drawing/2014/main" id="{49CF333F-006D-38D2-CBF8-86A535F125E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3" name="Yello-black">
            <a:extLst>
              <a:ext uri="{FF2B5EF4-FFF2-40B4-BE49-F238E27FC236}">
                <a16:creationId xmlns:a16="http://schemas.microsoft.com/office/drawing/2014/main" id="{C949560A-3081-8B85-1EDE-41A658272F6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5108615"/>
            <a:ext cx="9392168" cy="340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708DC-5C24-B534-FD66-65640878D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92">
            <a:extLst>
              <a:ext uri="{FF2B5EF4-FFF2-40B4-BE49-F238E27FC236}">
                <a16:creationId xmlns:a16="http://schemas.microsoft.com/office/drawing/2014/main" id="{5DC8552E-A931-4C46-D7F7-BC79B233DDFA}"/>
              </a:ext>
            </a:extLst>
          </p:cNvPr>
          <p:cNvSpPr/>
          <p:nvPr/>
        </p:nvSpPr>
        <p:spPr>
          <a:xfrm>
            <a:off x="457200" y="322217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Quality, Alerting &amp; </a:t>
            </a:r>
            <a:r>
              <a:rPr lang="en-US" sz="2400" b="1" dirty="0" err="1">
                <a:solidFill>
                  <a:srgbClr val="F7C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</a:t>
            </a:r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Integration</a:t>
            </a:r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1824838F-2E77-EFD8-4EB4-5C789435633C}"/>
              </a:ext>
            </a:extLst>
          </p:cNvPr>
          <p:cNvSpPr/>
          <p:nvPr/>
        </p:nvSpPr>
        <p:spPr>
          <a:xfrm>
            <a:off x="457200" y="1702510"/>
            <a:ext cx="8229600" cy="2937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600" b="1" dirty="0">
                <a:solidFill>
                  <a:srgbClr val="F7C948"/>
                </a:solidFill>
              </a:rPr>
              <a:t>1. Data Quality &amp; Freshness (dbt Tests)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Automated Quality Checks</a:t>
            </a:r>
            <a:r>
              <a:rPr lang="en-US" sz="1600" dirty="0">
                <a:solidFill>
                  <a:srgbClr val="FFFFFF"/>
                </a:solidFill>
              </a:rPr>
              <a:t>: </a:t>
            </a:r>
            <a:r>
              <a:rPr lang="en-US" sz="1400" dirty="0">
                <a:solidFill>
                  <a:srgbClr val="FFFFFF"/>
                </a:solidFill>
              </a:rPr>
              <a:t>Enforced constraints (unique, not_null) via dbt on critical fields like </a:t>
            </a:r>
            <a:r>
              <a:rPr lang="en-US" sz="1400" dirty="0" err="1">
                <a:solidFill>
                  <a:srgbClr val="FFFFFF"/>
                </a:solidFill>
              </a:rPr>
              <a:t>complaint_id</a:t>
            </a:r>
            <a:r>
              <a:rPr lang="en-US" sz="1400" dirty="0">
                <a:solidFill>
                  <a:srgbClr val="FFFFFF"/>
                </a:solidFill>
              </a:rPr>
              <a:t>.</a:t>
            </a:r>
            <a:endParaRPr lang="ar-EG" sz="1600" dirty="0">
              <a:solidFill>
                <a:srgbClr val="FFFFFF"/>
              </a:solidFill>
            </a:endParaRPr>
          </a:p>
          <a:p>
            <a:pPr marL="0" indent="0" algn="l">
              <a:buNone/>
            </a:pPr>
            <a:endParaRPr lang="en-US" sz="1600" dirty="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F7C948"/>
                </a:solidFill>
              </a:rPr>
              <a:t>2. Proactive Observability &amp; Alerting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Instant Failure Detection: </a:t>
            </a:r>
            <a:r>
              <a:rPr lang="en-US" sz="1400" dirty="0">
                <a:solidFill>
                  <a:srgbClr val="FFFFFF"/>
                </a:solidFill>
              </a:rPr>
              <a:t>GitHub Actions workflow triggers immediate status alerts upon any step failure</a:t>
            </a:r>
            <a:r>
              <a:rPr lang="en-US" sz="1600" dirty="0">
                <a:solidFill>
                  <a:srgbClr val="FFFFFF"/>
                </a:solidFill>
              </a:rPr>
              <a:t>.</a:t>
            </a:r>
            <a:endParaRPr lang="ar-EG" sz="1600" dirty="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Error Diagnosis &amp; Logging</a:t>
            </a:r>
            <a:r>
              <a:rPr lang="en-US" sz="1600" dirty="0">
                <a:solidFill>
                  <a:srgbClr val="FFFFFF"/>
                </a:solidFill>
              </a:rPr>
              <a:t>: </a:t>
            </a:r>
            <a:r>
              <a:rPr lang="en-US" sz="1400" dirty="0">
                <a:solidFill>
                  <a:srgbClr val="FFFFFF"/>
                </a:solidFill>
              </a:rPr>
              <a:t>Leveraged GitHub Actions execution logs for rapid identification of API drops or schema mismatches, preventing faulty production updates.</a:t>
            </a: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2" name="Yello-black">
            <a:extLst>
              <a:ext uri="{FF2B5EF4-FFF2-40B4-BE49-F238E27FC236}">
                <a16:creationId xmlns:a16="http://schemas.microsoft.com/office/drawing/2014/main" id="{5CB03EB2-02CC-335E-DBA9-4A3EBD47645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3" name="Yello-black">
            <a:extLst>
              <a:ext uri="{FF2B5EF4-FFF2-40B4-BE49-F238E27FC236}">
                <a16:creationId xmlns:a16="http://schemas.microsoft.com/office/drawing/2014/main" id="{B29BCDEC-D89C-6C18-E7B5-9BAE61ACED0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5108615"/>
            <a:ext cx="9392168" cy="34016"/>
          </a:xfrm>
          <a:prstGeom prst="rect">
            <a:avLst/>
          </a:prstGeom>
        </p:spPr>
      </p:pic>
      <p:sp>
        <p:nvSpPr>
          <p:cNvPr id="4" name="Text 57">
            <a:extLst>
              <a:ext uri="{FF2B5EF4-FFF2-40B4-BE49-F238E27FC236}">
                <a16:creationId xmlns:a16="http://schemas.microsoft.com/office/drawing/2014/main" id="{833E2704-A8C5-B7D5-A6B9-AE24C7991B8B}"/>
              </a:ext>
            </a:extLst>
          </p:cNvPr>
          <p:cNvSpPr/>
          <p:nvPr/>
        </p:nvSpPr>
        <p:spPr>
          <a:xfrm>
            <a:off x="6216830" y="0"/>
            <a:ext cx="2836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</a:t>
            </a:r>
            <a:r>
              <a:rPr lang="ar-EG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Monitoring &amp; Automation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EBFB4B22-E1A0-1832-0246-AFBB3FE79F4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6448812"/>
                  </p:ext>
                </p:extLst>
              </p:nvPr>
            </p:nvGraphicFramePr>
            <p:xfrm>
              <a:off x="3748337" y="3083670"/>
              <a:ext cx="155448" cy="87440"/>
            </p:xfrm>
            <a:graphic>
              <a:graphicData uri="http://schemas.microsoft.com/office/powerpoint/2016/slidezoom">
                <pslz:sldZm>
                  <pslz:sldZmObj sldId="295" cId="2957622591">
                    <pslz:zmPr id="{C5416AE6-4223-4A47-B74F-AB54B74ED600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7C948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EBFB4B22-E1A0-1832-0246-AFBB3FE79F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48337" y="3083670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7C948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680B0534-B53B-BCA3-EA52-8D900B02F6E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6409551"/>
                  </p:ext>
                </p:extLst>
              </p:nvPr>
            </p:nvGraphicFramePr>
            <p:xfrm>
              <a:off x="4026877" y="2378319"/>
              <a:ext cx="155448" cy="87440"/>
            </p:xfrm>
            <a:graphic>
              <a:graphicData uri="http://schemas.microsoft.com/office/powerpoint/2016/slidezoom">
                <pslz:sldZm>
                  <pslz:sldZmObj sldId="292" cId="2929360350">
                    <pslz:zmPr id="{4A40F76C-8F56-4E94-9E68-E9087BBE201A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BBF00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680B0534-B53B-BCA3-EA52-8D900B02F6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26877" y="2378319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BBF00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2384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00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Achievements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C948"/>
                </a:solidFill>
              </a:rPr>
              <a:t>What was built and delivered end-to-end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" y="1143000"/>
            <a:ext cx="20574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20040" y="1143000"/>
            <a:ext cx="2057400" cy="9144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20040" y="1261872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B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+6.5M</a:t>
            </a:r>
            <a:endParaRPr lang="en-US" sz="3800" dirty="0">
              <a:solidFill>
                <a:srgbClr val="FBBF00"/>
              </a:solidFill>
            </a:endParaRPr>
          </a:p>
        </p:txBody>
      </p:sp>
      <p:sp>
        <p:nvSpPr>
          <p:cNvPr id="64" name="Text 62"/>
          <p:cNvSpPr/>
          <p:nvPr/>
        </p:nvSpPr>
        <p:spPr>
          <a:xfrm>
            <a:off x="320040" y="20848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Records Processed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532888" y="1143000"/>
            <a:ext cx="20574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2532888" y="1143000"/>
            <a:ext cx="2057400" cy="9144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532888" y="1261872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B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>
              <a:solidFill>
                <a:srgbClr val="FBBF00"/>
              </a:solidFill>
            </a:endParaRPr>
          </a:p>
        </p:txBody>
      </p:sp>
      <p:sp>
        <p:nvSpPr>
          <p:cNvPr id="69" name="Text 67"/>
          <p:cNvSpPr/>
          <p:nvPr/>
        </p:nvSpPr>
        <p:spPr>
          <a:xfrm>
            <a:off x="2532888" y="20848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dbt SQL Models Built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532888" y="23774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745736" y="1143000"/>
            <a:ext cx="20574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745736" y="1143000"/>
            <a:ext cx="2057400" cy="9144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745736" y="1261872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B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>
              <a:solidFill>
                <a:srgbClr val="FBBF00"/>
              </a:solidFill>
            </a:endParaRPr>
          </a:p>
        </p:txBody>
      </p:sp>
      <p:sp>
        <p:nvSpPr>
          <p:cNvPr id="74" name="Text 72"/>
          <p:cNvSpPr/>
          <p:nvPr/>
        </p:nvSpPr>
        <p:spPr>
          <a:xfrm>
            <a:off x="4745736" y="20848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Automated — Zero Manual Steps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958584" y="1143000"/>
            <a:ext cx="20574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958584" y="1143000"/>
            <a:ext cx="2057400" cy="9144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958584" y="1261872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B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>
              <a:solidFill>
                <a:srgbClr val="FBBF00"/>
              </a:solidFill>
            </a:endParaRPr>
          </a:p>
        </p:txBody>
      </p:sp>
      <p:sp>
        <p:nvSpPr>
          <p:cNvPr id="79" name="Text 77"/>
          <p:cNvSpPr/>
          <p:nvPr/>
        </p:nvSpPr>
        <p:spPr>
          <a:xfrm>
            <a:off x="6958584" y="20848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JSON Keys in Repo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20040" y="2880360"/>
            <a:ext cx="8503920" cy="475488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20040" y="2880360"/>
            <a:ext cx="8503920" cy="73152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38912" y="29718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Lineage DAG — Automated by dbt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365760" y="3456432"/>
            <a:ext cx="1572768" cy="1097280"/>
          </a:xfrm>
          <a:prstGeom prst="rect">
            <a:avLst/>
          </a:prstGeom>
          <a:solidFill>
            <a:schemeClr val="tx1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7C948"/>
              </a:solidFill>
            </a:endParaRPr>
          </a:p>
        </p:txBody>
      </p:sp>
      <p:sp>
        <p:nvSpPr>
          <p:cNvPr id="85" name="Shape 83"/>
          <p:cNvSpPr/>
          <p:nvPr/>
        </p:nvSpPr>
        <p:spPr>
          <a:xfrm>
            <a:off x="365760" y="3456432"/>
            <a:ext cx="1572768" cy="82296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>
              <a:solidFill>
                <a:srgbClr val="F7C948"/>
              </a:solidFill>
            </a:endParaRPr>
          </a:p>
        </p:txBody>
      </p:sp>
      <p:sp>
        <p:nvSpPr>
          <p:cNvPr id="86" name="Text 84"/>
          <p:cNvSpPr/>
          <p:nvPr/>
        </p:nvSpPr>
        <p:spPr>
          <a:xfrm>
            <a:off x="365760" y="356616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raw_service</a:t>
            </a:r>
            <a:endParaRPr lang="en-US" sz="850" dirty="0">
              <a:solidFill>
                <a:srgbClr val="F7C948"/>
              </a:solidFill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_requests</a:t>
            </a:r>
            <a:endParaRPr lang="en-US" sz="850" dirty="0">
              <a:solidFill>
                <a:srgbClr val="F7C948"/>
              </a:solidFill>
            </a:endParaRPr>
          </a:p>
        </p:txBody>
      </p:sp>
      <p:sp>
        <p:nvSpPr>
          <p:cNvPr id="87" name="Text 85"/>
          <p:cNvSpPr/>
          <p:nvPr/>
        </p:nvSpPr>
        <p:spPr>
          <a:xfrm>
            <a:off x="1938528" y="3822192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7C948"/>
                </a:solidFill>
              </a:rPr>
              <a:t>→</a:t>
            </a:r>
          </a:p>
        </p:txBody>
      </p:sp>
      <p:sp>
        <p:nvSpPr>
          <p:cNvPr id="88" name="Shape 86"/>
          <p:cNvSpPr/>
          <p:nvPr/>
        </p:nvSpPr>
        <p:spPr>
          <a:xfrm>
            <a:off x="2084832" y="3456432"/>
            <a:ext cx="1572768" cy="1097280"/>
          </a:xfrm>
          <a:prstGeom prst="rect">
            <a:avLst/>
          </a:prstGeom>
          <a:solidFill>
            <a:schemeClr val="tx1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7C948"/>
              </a:solidFill>
            </a:endParaRPr>
          </a:p>
        </p:txBody>
      </p:sp>
      <p:sp>
        <p:nvSpPr>
          <p:cNvPr id="89" name="Shape 87"/>
          <p:cNvSpPr/>
          <p:nvPr/>
        </p:nvSpPr>
        <p:spPr>
          <a:xfrm>
            <a:off x="2084832" y="3456432"/>
            <a:ext cx="1572768" cy="82296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>
              <a:solidFill>
                <a:srgbClr val="F7C948"/>
              </a:solidFill>
            </a:endParaRPr>
          </a:p>
        </p:txBody>
      </p:sp>
      <p:sp>
        <p:nvSpPr>
          <p:cNvPr id="90" name="Text 88"/>
          <p:cNvSpPr/>
          <p:nvPr/>
        </p:nvSpPr>
        <p:spPr>
          <a:xfrm>
            <a:off x="2084832" y="356616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stg_nyc_311</a:t>
            </a:r>
            <a:endParaRPr lang="en-US" sz="850" dirty="0">
              <a:solidFill>
                <a:srgbClr val="F7C948"/>
              </a:solidFill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(VIEW)</a:t>
            </a:r>
            <a:endParaRPr lang="en-US" sz="850" dirty="0">
              <a:solidFill>
                <a:srgbClr val="F7C948"/>
              </a:solidFill>
            </a:endParaRPr>
          </a:p>
        </p:txBody>
      </p:sp>
      <p:sp>
        <p:nvSpPr>
          <p:cNvPr id="91" name="Text 89"/>
          <p:cNvSpPr/>
          <p:nvPr/>
        </p:nvSpPr>
        <p:spPr>
          <a:xfrm>
            <a:off x="3657600" y="3822192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7C948"/>
                </a:solidFill>
              </a:rPr>
              <a:t>→</a:t>
            </a:r>
          </a:p>
        </p:txBody>
      </p:sp>
      <p:sp>
        <p:nvSpPr>
          <p:cNvPr id="92" name="Shape 90"/>
          <p:cNvSpPr/>
          <p:nvPr/>
        </p:nvSpPr>
        <p:spPr>
          <a:xfrm>
            <a:off x="3803904" y="3456432"/>
            <a:ext cx="1572768" cy="1097280"/>
          </a:xfrm>
          <a:prstGeom prst="rect">
            <a:avLst/>
          </a:prstGeom>
          <a:solidFill>
            <a:schemeClr val="tx1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7C948"/>
              </a:solidFill>
            </a:endParaRPr>
          </a:p>
        </p:txBody>
      </p:sp>
      <p:sp>
        <p:nvSpPr>
          <p:cNvPr id="93" name="Shape 91"/>
          <p:cNvSpPr/>
          <p:nvPr/>
        </p:nvSpPr>
        <p:spPr>
          <a:xfrm>
            <a:off x="3803904" y="3456432"/>
            <a:ext cx="1572768" cy="82296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>
              <a:solidFill>
                <a:srgbClr val="F7C948"/>
              </a:solidFill>
            </a:endParaRPr>
          </a:p>
        </p:txBody>
      </p:sp>
      <p:sp>
        <p:nvSpPr>
          <p:cNvPr id="94" name="Text 92"/>
          <p:cNvSpPr/>
          <p:nvPr/>
        </p:nvSpPr>
        <p:spPr>
          <a:xfrm>
            <a:off x="3803904" y="356616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dim_date</a:t>
            </a:r>
            <a:endParaRPr lang="en-US" sz="850" dirty="0">
              <a:solidFill>
                <a:srgbClr val="F7C948"/>
              </a:solidFill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dim_locations</a:t>
            </a:r>
            <a:endParaRPr lang="en-US" sz="850" dirty="0">
              <a:solidFill>
                <a:srgbClr val="F7C948"/>
              </a:solidFill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dim_complaint</a:t>
            </a:r>
            <a:endParaRPr lang="en-US" sz="850" dirty="0">
              <a:solidFill>
                <a:srgbClr val="F7C948"/>
              </a:solidFill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dim_agency</a:t>
            </a:r>
            <a:endParaRPr lang="en-US" sz="850" dirty="0">
              <a:solidFill>
                <a:srgbClr val="F7C948"/>
              </a:solidFill>
            </a:endParaRPr>
          </a:p>
        </p:txBody>
      </p:sp>
      <p:sp>
        <p:nvSpPr>
          <p:cNvPr id="95" name="Text 93"/>
          <p:cNvSpPr/>
          <p:nvPr/>
        </p:nvSpPr>
        <p:spPr>
          <a:xfrm>
            <a:off x="5376672" y="3822192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7C948"/>
                </a:solidFill>
              </a:rPr>
              <a:t>→</a:t>
            </a:r>
          </a:p>
        </p:txBody>
      </p:sp>
      <p:sp>
        <p:nvSpPr>
          <p:cNvPr id="96" name="Shape 94"/>
          <p:cNvSpPr/>
          <p:nvPr/>
        </p:nvSpPr>
        <p:spPr>
          <a:xfrm>
            <a:off x="5522976" y="3456432"/>
            <a:ext cx="1572768" cy="1097280"/>
          </a:xfrm>
          <a:prstGeom prst="rect">
            <a:avLst/>
          </a:prstGeom>
          <a:solidFill>
            <a:schemeClr val="tx1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7C948"/>
              </a:solidFill>
            </a:endParaRPr>
          </a:p>
        </p:txBody>
      </p:sp>
      <p:sp>
        <p:nvSpPr>
          <p:cNvPr id="97" name="Shape 95"/>
          <p:cNvSpPr/>
          <p:nvPr/>
        </p:nvSpPr>
        <p:spPr>
          <a:xfrm>
            <a:off x="5522976" y="3456432"/>
            <a:ext cx="1572768" cy="82296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>
              <a:solidFill>
                <a:srgbClr val="F7C948"/>
              </a:solidFill>
            </a:endParaRPr>
          </a:p>
        </p:txBody>
      </p:sp>
      <p:sp>
        <p:nvSpPr>
          <p:cNvPr id="98" name="Text 96"/>
          <p:cNvSpPr/>
          <p:nvPr/>
        </p:nvSpPr>
        <p:spPr>
          <a:xfrm>
            <a:off x="5522976" y="356616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fact_service</a:t>
            </a:r>
            <a:endParaRPr lang="en-US" sz="850" dirty="0">
              <a:solidFill>
                <a:srgbClr val="F7C948"/>
              </a:solidFill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_requests</a:t>
            </a:r>
            <a:endParaRPr lang="en-US" sz="850" dirty="0">
              <a:solidFill>
                <a:srgbClr val="F7C948"/>
              </a:solidFill>
            </a:endParaRPr>
          </a:p>
        </p:txBody>
      </p:sp>
      <p:sp>
        <p:nvSpPr>
          <p:cNvPr id="99" name="Text 97"/>
          <p:cNvSpPr/>
          <p:nvPr/>
        </p:nvSpPr>
        <p:spPr>
          <a:xfrm>
            <a:off x="7095744" y="3822192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7C948"/>
                </a:solidFill>
              </a:rPr>
              <a:t>→</a:t>
            </a:r>
          </a:p>
        </p:txBody>
      </p:sp>
      <p:sp>
        <p:nvSpPr>
          <p:cNvPr id="100" name="Shape 98"/>
          <p:cNvSpPr/>
          <p:nvPr/>
        </p:nvSpPr>
        <p:spPr>
          <a:xfrm>
            <a:off x="7242048" y="3456432"/>
            <a:ext cx="1572768" cy="1097280"/>
          </a:xfrm>
          <a:prstGeom prst="rect">
            <a:avLst/>
          </a:prstGeom>
          <a:solidFill>
            <a:schemeClr val="tx1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7C948"/>
              </a:solidFill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7242048" y="3456432"/>
            <a:ext cx="1572768" cy="82296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>
              <a:solidFill>
                <a:srgbClr val="F7C948"/>
              </a:solidFill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7242048" y="356616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BI</a:t>
            </a:r>
            <a:endParaRPr lang="en-US" sz="850" dirty="0">
              <a:solidFill>
                <a:srgbClr val="F7C948"/>
              </a:solidFill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US" sz="850" dirty="0">
              <a:solidFill>
                <a:srgbClr val="F7C948"/>
              </a:solidFill>
            </a:endParaRPr>
          </a:p>
        </p:txBody>
      </p:sp>
      <p:pic>
        <p:nvPicPr>
          <p:cNvPr id="3" name="Yello-black">
            <a:extLst>
              <a:ext uri="{FF2B5EF4-FFF2-40B4-BE49-F238E27FC236}">
                <a16:creationId xmlns:a16="http://schemas.microsoft.com/office/drawing/2014/main" id="{4D7C0A0E-F790-8859-B359-A390D5F90D5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942106"/>
            <a:ext cx="9392168" cy="34016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095F923C-DEFD-21ED-82C2-0798CFD39C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88541170"/>
                  </p:ext>
                </p:extLst>
              </p:nvPr>
            </p:nvGraphicFramePr>
            <p:xfrm>
              <a:off x="5928360" y="3112960"/>
              <a:ext cx="155448" cy="87440"/>
            </p:xfrm>
            <a:graphic>
              <a:graphicData uri="http://schemas.microsoft.com/office/powerpoint/2016/slidezoom">
                <pslz:sldZm>
                  <pslz:sldZmObj sldId="296" cId="1175561467">
                    <pslz:zmPr id="{0DC0E2F2-0F1E-434B-8F08-15114923C5C1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448" cy="8744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0" cap="sq">
                          <a:solidFill>
                            <a:srgbClr val="F7C948"/>
                          </a:solidFill>
                          <a:miter lim="800000"/>
                        </a:ln>
                        <a:effectLst>
                          <a:outerShdw blurRad="65000" dist="50800" dir="12900000" kx="195000" ky="145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360000"/>
                          </a:camera>
                          <a:lightRig rig="twoPt" dir="t">
                            <a:rot lat="0" lon="0" rev="7200000"/>
                          </a:lightRig>
                        </a:scene3d>
                        <a:sp3d contourW="12700">
                          <a:bevelT w="25400" h="1905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095F923C-DEFD-21ED-82C2-0798CFD39C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28360" y="3112960"/>
                <a:ext cx="155448" cy="8744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7C948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004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Architecture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C948"/>
                </a:solidFill>
              </a:rPr>
              <a:t>From raw API data to automated Star Schema in the cloud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74320" y="1097280"/>
            <a:ext cx="1783080" cy="1143000"/>
          </a:xfrm>
          <a:prstGeom prst="rect">
            <a:avLst/>
          </a:prstGeom>
          <a:solidFill>
            <a:srgbClr val="F7C948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74320" y="12070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NYC 311 API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74320" y="162763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Sodapy + Python</a:t>
            </a:r>
          </a:p>
        </p:txBody>
      </p:sp>
      <p:sp>
        <p:nvSpPr>
          <p:cNvPr id="65" name="Shape 63"/>
          <p:cNvSpPr/>
          <p:nvPr/>
        </p:nvSpPr>
        <p:spPr>
          <a:xfrm>
            <a:off x="2304288" y="1097280"/>
            <a:ext cx="1874520" cy="1143000"/>
          </a:xfrm>
          <a:prstGeom prst="rect">
            <a:avLst/>
          </a:prstGeom>
          <a:solidFill>
            <a:srgbClr val="F7C948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304288" y="120700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BigQuery Raw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2304288" y="162763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raw_service_requests</a:t>
            </a:r>
          </a:p>
        </p:txBody>
      </p:sp>
      <p:sp>
        <p:nvSpPr>
          <p:cNvPr id="69" name="Shape 67"/>
          <p:cNvSpPr/>
          <p:nvPr/>
        </p:nvSpPr>
        <p:spPr>
          <a:xfrm>
            <a:off x="4425696" y="1097280"/>
            <a:ext cx="1783080" cy="1143000"/>
          </a:xfrm>
          <a:prstGeom prst="rect">
            <a:avLst/>
          </a:prstGeom>
          <a:solidFill>
            <a:srgbClr val="F7C948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425696" y="12070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dbt Staging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425696" y="162763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stg_nyc_311</a:t>
            </a:r>
          </a:p>
          <a:p>
            <a:pPr marL="0" indent="0" algn="ctr">
              <a:buNone/>
            </a:pPr>
            <a:r>
              <a:rPr lang="en-US" sz="900" dirty="0"/>
              <a:t>(VIEW)</a:t>
            </a:r>
          </a:p>
        </p:txBody>
      </p:sp>
      <p:sp>
        <p:nvSpPr>
          <p:cNvPr id="73" name="Shape 71"/>
          <p:cNvSpPr/>
          <p:nvPr/>
        </p:nvSpPr>
        <p:spPr>
          <a:xfrm>
            <a:off x="6455664" y="1097280"/>
            <a:ext cx="1865376" cy="1143000"/>
          </a:xfrm>
          <a:prstGeom prst="rect">
            <a:avLst/>
          </a:prstGeom>
          <a:solidFill>
            <a:srgbClr val="F7C948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455664" y="120700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Star Schema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55664" y="1627632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dim × 4 + fact</a:t>
            </a:r>
          </a:p>
        </p:txBody>
      </p:sp>
      <p:sp>
        <p:nvSpPr>
          <p:cNvPr id="77" name="Text 75"/>
          <p:cNvSpPr/>
          <p:nvPr/>
        </p:nvSpPr>
        <p:spPr>
          <a:xfrm>
            <a:off x="2075688" y="150876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7C948"/>
                </a:solidFill>
              </a:rPr>
              <a:t>▶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4178808" y="150876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7C948"/>
                </a:solidFill>
              </a:rPr>
              <a:t>▶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6208776" y="150876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7C948"/>
                </a:solidFill>
              </a:rPr>
              <a:t>▶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274320" y="2414016"/>
            <a:ext cx="8046720" cy="566928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74320" y="2414016"/>
            <a:ext cx="804672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74320" y="2496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 Dashboards  —  Final business intelligence output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274320" y="3127248"/>
            <a:ext cx="8046720" cy="1481328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74320" y="3127248"/>
            <a:ext cx="8046720" cy="73152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84048" y="3218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Actions CI/CD — Runs Every Sunday Automatically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457200" y="3621024"/>
            <a:ext cx="1783080" cy="859536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57200" y="3621024"/>
            <a:ext cx="1783080" cy="8595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5"/>
                </a:solidFill>
              </a:rPr>
              <a:t>🔒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5"/>
                </a:solidFill>
              </a:rPr>
              <a:t>WIF Auth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5"/>
                </a:solidFill>
              </a:rPr>
              <a:t>(no JSON keys)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2240280" y="3858768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7C948"/>
                </a:solidFill>
              </a:rPr>
              <a:t>→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2468880" y="3621024"/>
            <a:ext cx="1783080" cy="859536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2468880" y="3621024"/>
            <a:ext cx="1783080" cy="8595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5"/>
                </a:solidFill>
              </a:rPr>
              <a:t>🐍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5"/>
                </a:solidFill>
              </a:rPr>
              <a:t>python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5"/>
                </a:solidFill>
              </a:rPr>
              <a:t>ingest_nyc_311.py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4251960" y="3858768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7C948"/>
                </a:solidFill>
              </a:rPr>
              <a:t>→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4480560" y="3621024"/>
            <a:ext cx="1783080" cy="859536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480560" y="3621024"/>
            <a:ext cx="1783080" cy="8595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5"/>
                </a:solidFill>
              </a:rPr>
              <a:t>⚙️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5"/>
                </a:solidFill>
              </a:rPr>
              <a:t>dbt run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5"/>
                </a:solidFill>
              </a:rPr>
              <a:t>rebuild tables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6263640" y="3858768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7C948"/>
                </a:solidFill>
              </a:rPr>
              <a:t>→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6492240" y="3621024"/>
            <a:ext cx="1783080" cy="859536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492240" y="3621024"/>
            <a:ext cx="1783080" cy="8595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5"/>
                </a:solidFill>
              </a:rPr>
              <a:t>✅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5"/>
                </a:solidFill>
              </a:rPr>
              <a:t>dbt 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5"/>
                </a:solidFill>
              </a:rPr>
              <a:t>validate quality</a:t>
            </a:r>
            <a:endParaRPr lang="en-US" sz="950" dirty="0"/>
          </a:p>
        </p:txBody>
      </p:sp>
      <p:pic>
        <p:nvPicPr>
          <p:cNvPr id="3" name="Yello-black">
            <a:extLst>
              <a:ext uri="{FF2B5EF4-FFF2-40B4-BE49-F238E27FC236}">
                <a16:creationId xmlns:a16="http://schemas.microsoft.com/office/drawing/2014/main" id="{C081DFB9-DA7C-9E2A-8DC3-1925703FCEE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989731"/>
            <a:ext cx="9392168" cy="340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92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4800" dirty="0"/>
          </a:p>
        </p:txBody>
      </p:sp>
      <p:sp>
        <p:nvSpPr>
          <p:cNvPr id="95" name="Text 9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Live analysis of NYC citizen complaints using the Star Schema output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NYC 311 Service Requests  ·  Data Engineering Graduation Project  ·  DEPI 2026</a:t>
            </a:r>
            <a:endParaRPr lang="en-US" sz="1100" dirty="0"/>
          </a:p>
        </p:txBody>
      </p:sp>
      <p:pic>
        <p:nvPicPr>
          <p:cNvPr id="2" name="Yello-black">
            <a:extLst>
              <a:ext uri="{FF2B5EF4-FFF2-40B4-BE49-F238E27FC236}">
                <a16:creationId xmlns:a16="http://schemas.microsoft.com/office/drawing/2014/main" id="{956C45B4-2F33-F1D5-CC0C-383CAE5FFBE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3" name="Yello-black">
            <a:extLst>
              <a:ext uri="{FF2B5EF4-FFF2-40B4-BE49-F238E27FC236}">
                <a16:creationId xmlns:a16="http://schemas.microsoft.com/office/drawing/2014/main" id="{E8CD1CFC-C8D0-DE8E-9CCA-5CAA6707D0E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5109484"/>
            <a:ext cx="9392168" cy="340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3C7E2-25B0-7851-8222-0C7882C2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0">
            <a:extLst>
              <a:ext uri="{FF2B5EF4-FFF2-40B4-BE49-F238E27FC236}">
                <a16:creationId xmlns:a16="http://schemas.microsoft.com/office/drawing/2014/main" id="{72BF927F-7405-570C-AAD6-442BC54AFE14}"/>
              </a:ext>
            </a:extLst>
          </p:cNvPr>
          <p:cNvSpPr/>
          <p:nvPr/>
        </p:nvSpPr>
        <p:spPr>
          <a:xfrm>
            <a:off x="6217920" y="457200"/>
            <a:ext cx="3200400" cy="3200400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7E4ADE4D-4283-8BC3-CD0B-B556D1CB6604}"/>
              </a:ext>
            </a:extLst>
          </p:cNvPr>
          <p:cNvSpPr/>
          <p:nvPr/>
        </p:nvSpPr>
        <p:spPr>
          <a:xfrm>
            <a:off x="6675120" y="822960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1F3F71C0-3ABC-57B5-C94C-E6EB656076C9}"/>
              </a:ext>
            </a:extLst>
          </p:cNvPr>
          <p:cNvGrpSpPr/>
          <p:nvPr/>
        </p:nvGrpSpPr>
        <p:grpSpPr>
          <a:xfrm>
            <a:off x="640478" y="2929679"/>
            <a:ext cx="8046720" cy="1600200"/>
            <a:chOff x="747423" y="2202920"/>
            <a:chExt cx="8046720" cy="1600200"/>
          </a:xfrm>
        </p:grpSpPr>
        <p:sp>
          <p:nvSpPr>
            <p:cNvPr id="87" name="Shape 85">
              <a:extLst>
                <a:ext uri="{FF2B5EF4-FFF2-40B4-BE49-F238E27FC236}">
                  <a16:creationId xmlns:a16="http://schemas.microsoft.com/office/drawing/2014/main" id="{ECCCA4EF-FDD6-8060-13E1-3865502BCFBF}"/>
                </a:ext>
              </a:extLst>
            </p:cNvPr>
            <p:cNvSpPr/>
            <p:nvPr/>
          </p:nvSpPr>
          <p:spPr>
            <a:xfrm>
              <a:off x="747423" y="2202920"/>
              <a:ext cx="8046720" cy="1600200"/>
            </a:xfrm>
            <a:prstGeom prst="rect">
              <a:avLst/>
            </a:prstGeom>
            <a:solidFill>
              <a:srgbClr val="1A1A1A"/>
            </a:solidFill>
            <a:ln/>
            <a:effectLst>
              <a:outerShdw blurRad="127000" dist="50800" dir="81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8" name="Shape 86">
              <a:extLst>
                <a:ext uri="{FF2B5EF4-FFF2-40B4-BE49-F238E27FC236}">
                  <a16:creationId xmlns:a16="http://schemas.microsoft.com/office/drawing/2014/main" id="{174DEEA7-69FC-6F23-EF61-F0B2A04C9A88}"/>
                </a:ext>
              </a:extLst>
            </p:cNvPr>
            <p:cNvSpPr/>
            <p:nvPr/>
          </p:nvSpPr>
          <p:spPr>
            <a:xfrm>
              <a:off x="747423" y="2202920"/>
              <a:ext cx="8046720" cy="73152"/>
            </a:xfrm>
            <a:prstGeom prst="rect">
              <a:avLst/>
            </a:prstGeom>
            <a:solidFill>
              <a:srgbClr val="F7C94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 87">
              <a:extLst>
                <a:ext uri="{FF2B5EF4-FFF2-40B4-BE49-F238E27FC236}">
                  <a16:creationId xmlns:a16="http://schemas.microsoft.com/office/drawing/2014/main" id="{4C5295B1-1E8C-AF41-A769-43080B83088D}"/>
                </a:ext>
              </a:extLst>
            </p:cNvPr>
            <p:cNvSpPr/>
            <p:nvPr/>
          </p:nvSpPr>
          <p:spPr>
            <a:xfrm>
              <a:off x="884583" y="2276072"/>
              <a:ext cx="7772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7C948"/>
                  </a:solidFill>
                </a:rPr>
                <a:t>Project Team</a:t>
              </a:r>
              <a:endParaRPr lang="en-US" sz="1100" dirty="0"/>
            </a:p>
          </p:txBody>
        </p:sp>
        <p:sp>
          <p:nvSpPr>
            <p:cNvPr id="91" name="Text 89">
              <a:extLst>
                <a:ext uri="{FF2B5EF4-FFF2-40B4-BE49-F238E27FC236}">
                  <a16:creationId xmlns:a16="http://schemas.microsoft.com/office/drawing/2014/main" id="{60DF7591-5A7D-8C35-3A82-DE7B3D94FB2C}"/>
                </a:ext>
              </a:extLst>
            </p:cNvPr>
            <p:cNvSpPr/>
            <p:nvPr/>
          </p:nvSpPr>
          <p:spPr>
            <a:xfrm>
              <a:off x="828926" y="2856527"/>
              <a:ext cx="1828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Lamiaa Dardeer</a:t>
              </a:r>
              <a:endParaRPr lang="en-US" sz="1200" dirty="0"/>
            </a:p>
          </p:txBody>
        </p:sp>
        <p:sp>
          <p:nvSpPr>
            <p:cNvPr id="94" name="Text 92">
              <a:extLst>
                <a:ext uri="{FF2B5EF4-FFF2-40B4-BE49-F238E27FC236}">
                  <a16:creationId xmlns:a16="http://schemas.microsoft.com/office/drawing/2014/main" id="{62951AD0-38AB-5712-856A-49E2315BBF78}"/>
                </a:ext>
              </a:extLst>
            </p:cNvPr>
            <p:cNvSpPr/>
            <p:nvPr/>
          </p:nvSpPr>
          <p:spPr>
            <a:xfrm>
              <a:off x="2840606" y="2856527"/>
              <a:ext cx="1828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Aliaa El-Baz</a:t>
              </a:r>
              <a:endParaRPr lang="en-US" sz="1200" dirty="0"/>
            </a:p>
          </p:txBody>
        </p:sp>
        <p:sp>
          <p:nvSpPr>
            <p:cNvPr id="97" name="Text 95">
              <a:extLst>
                <a:ext uri="{FF2B5EF4-FFF2-40B4-BE49-F238E27FC236}">
                  <a16:creationId xmlns:a16="http://schemas.microsoft.com/office/drawing/2014/main" id="{32BD71FA-5297-0BB3-E6AA-E27E6D67A78C}"/>
                </a:ext>
              </a:extLst>
            </p:cNvPr>
            <p:cNvSpPr/>
            <p:nvPr/>
          </p:nvSpPr>
          <p:spPr>
            <a:xfrm>
              <a:off x="4852286" y="2856527"/>
              <a:ext cx="1828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Sayed Gouda</a:t>
              </a:r>
              <a:endParaRPr lang="en-US" sz="1200" dirty="0"/>
            </a:p>
          </p:txBody>
        </p:sp>
        <p:sp>
          <p:nvSpPr>
            <p:cNvPr id="100" name="Text 98">
              <a:extLst>
                <a:ext uri="{FF2B5EF4-FFF2-40B4-BE49-F238E27FC236}">
                  <a16:creationId xmlns:a16="http://schemas.microsoft.com/office/drawing/2014/main" id="{DD0F9671-EB22-FBBE-933F-3096616730EB}"/>
                </a:ext>
              </a:extLst>
            </p:cNvPr>
            <p:cNvSpPr/>
            <p:nvPr/>
          </p:nvSpPr>
          <p:spPr>
            <a:xfrm>
              <a:off x="6863966" y="2856527"/>
              <a:ext cx="1828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Makary Makin</a:t>
              </a:r>
              <a:endParaRPr lang="en-US" sz="1200" dirty="0"/>
            </a:p>
          </p:txBody>
        </p:sp>
      </p:grpSp>
      <p:sp>
        <p:nvSpPr>
          <p:cNvPr id="215" name="Text 80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pic>
        <p:nvPicPr>
          <p:cNvPr id="2" name="Yello-black">
            <a:extLst>
              <a:ext uri="{FF2B5EF4-FFF2-40B4-BE49-F238E27FC236}">
                <a16:creationId xmlns:a16="http://schemas.microsoft.com/office/drawing/2014/main" id="{11EA831C-4A92-F5D2-9441-7BFBD2A17C0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2061"/>
            <a:ext cx="9392168" cy="34016"/>
          </a:xfrm>
          <a:prstGeom prst="rect">
            <a:avLst/>
          </a:prstGeom>
        </p:spPr>
      </p:pic>
      <p:pic>
        <p:nvPicPr>
          <p:cNvPr id="3" name="Yello-black">
            <a:extLst>
              <a:ext uri="{FF2B5EF4-FFF2-40B4-BE49-F238E27FC236}">
                <a16:creationId xmlns:a16="http://schemas.microsoft.com/office/drawing/2014/main" id="{3F39EAC5-6BDF-5C1D-2CEF-FEFCBD2DDBF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33623" y="5113083"/>
            <a:ext cx="9392168" cy="3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456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9E2494-99E0-8296-8545-5CB0548B4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7A94617C-F666-1472-4906-A94993178971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APP Token">
            <a:extLst>
              <a:ext uri="{FF2B5EF4-FFF2-40B4-BE49-F238E27FC236}">
                <a16:creationId xmlns:a16="http://schemas.microsoft.com/office/drawing/2014/main" id="{F0FC8F44-19BC-DC2A-E37B-402A420987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35"/>
          <a:stretch>
            <a:fillRect/>
          </a:stretch>
        </p:blipFill>
        <p:spPr>
          <a:xfrm>
            <a:off x="1540499" y="1059744"/>
            <a:ext cx="5486400" cy="3621321"/>
          </a:xfrm>
          <a:prstGeom prst="rect">
            <a:avLst/>
          </a:prstGeom>
        </p:spPr>
      </p:pic>
      <p:pic>
        <p:nvPicPr>
          <p:cNvPr id="4" name="Yello-black">
            <a:extLst>
              <a:ext uri="{FF2B5EF4-FFF2-40B4-BE49-F238E27FC236}">
                <a16:creationId xmlns:a16="http://schemas.microsoft.com/office/drawing/2014/main" id="{7BC777BE-7E13-F4D9-240D-8C8D7327F81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15648485-56F6-28F7-28A4-4622542C653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645E0B-DAB4-71A2-95DD-F9970543010D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NYC 311 Open Data API</a:t>
            </a:r>
          </a:p>
        </p:txBody>
      </p:sp>
    </p:spTree>
    <p:extLst>
      <p:ext uri="{BB962C8B-B14F-4D97-AF65-F5344CB8AC3E}">
        <p14:creationId xmlns:p14="http://schemas.microsoft.com/office/powerpoint/2010/main" val="2996312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9D0B3-C918-91EF-27BC-56B938680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3586A031-240E-4974-06E2-5C2714FCFB66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EF636285-3C79-8B1E-17EA-24B0980A6DA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01C7A7A0-D29A-A135-7AF3-C2DF1F2317C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CBC630-58D4-9131-9428-B82A41417E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482"/>
          <a:stretch>
            <a:fillRect/>
          </a:stretch>
        </p:blipFill>
        <p:spPr>
          <a:xfrm>
            <a:off x="63557" y="1134531"/>
            <a:ext cx="4369994" cy="3742270"/>
          </a:xfrm>
          <a:prstGeom prst="rect">
            <a:avLst/>
          </a:prstGeom>
          <a:ln>
            <a:solidFill>
              <a:srgbClr val="F7C948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50E078-326F-750E-C4FD-5488E9455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268" y="1134531"/>
            <a:ext cx="4580582" cy="3742270"/>
          </a:xfrm>
          <a:prstGeom prst="rect">
            <a:avLst/>
          </a:prstGeom>
          <a:ln>
            <a:solidFill>
              <a:srgbClr val="FBBF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E2A926-D1A5-AB0C-3295-EE4CDAF0603F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Python Ingestion Script</a:t>
            </a:r>
          </a:p>
        </p:txBody>
      </p:sp>
    </p:spTree>
    <p:extLst>
      <p:ext uri="{BB962C8B-B14F-4D97-AF65-F5344CB8AC3E}">
        <p14:creationId xmlns:p14="http://schemas.microsoft.com/office/powerpoint/2010/main" val="1729284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B49E9-843E-9060-AD00-559930259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843B814B-7BD1-17C4-C96E-41E0F0502AD5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1CC84D14-573D-85DE-ACBA-15087F21474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C07EDF82-D2F1-C542-DE7D-861ED1BA32A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930DEC-6DB8-0668-806B-161C06115240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BigQuery — Raw Staging Area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77A7E2-2812-3266-BF1A-0891B5ED8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884" y="1288954"/>
            <a:ext cx="5486400" cy="3162901"/>
          </a:xfrm>
          <a:prstGeom prst="rect">
            <a:avLst/>
          </a:prstGeom>
          <a:ln>
            <a:solidFill>
              <a:srgbClr val="FBBF00"/>
            </a:solidFill>
          </a:ln>
        </p:spPr>
      </p:pic>
    </p:spTree>
    <p:extLst>
      <p:ext uri="{BB962C8B-B14F-4D97-AF65-F5344CB8AC3E}">
        <p14:creationId xmlns:p14="http://schemas.microsoft.com/office/powerpoint/2010/main" val="2451508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76E2B-DB2F-C2CC-98B6-A79E2E20D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648F6EDC-DCF8-C799-E317-0B5510A1DB8B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9AB1DB98-E0EB-6016-0E85-ADCA6BBBCDB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A69B43DA-6139-044F-47EB-84B5975339A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29D44B-D2BF-0256-A83B-A2729B6F82A8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Audit query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70C2E6-DEF1-E753-2000-A979391A53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44"/>
          <a:stretch>
            <a:fillRect/>
          </a:stretch>
        </p:blipFill>
        <p:spPr>
          <a:xfrm>
            <a:off x="287427" y="665342"/>
            <a:ext cx="4370298" cy="4321445"/>
          </a:xfrm>
          <a:prstGeom prst="rect">
            <a:avLst/>
          </a:prstGeom>
          <a:ln>
            <a:solidFill>
              <a:srgbClr val="F7C948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E08884-32E4-5816-9C7F-FEE880B7D8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48"/>
          <a:stretch>
            <a:fillRect/>
          </a:stretch>
        </p:blipFill>
        <p:spPr>
          <a:xfrm>
            <a:off x="4796930" y="652877"/>
            <a:ext cx="3385045" cy="4333910"/>
          </a:xfrm>
          <a:prstGeom prst="rect">
            <a:avLst/>
          </a:prstGeom>
          <a:ln>
            <a:solidFill>
              <a:srgbClr val="F7C948"/>
            </a:solidFill>
          </a:ln>
        </p:spPr>
      </p:pic>
    </p:spTree>
    <p:extLst>
      <p:ext uri="{BB962C8B-B14F-4D97-AF65-F5344CB8AC3E}">
        <p14:creationId xmlns:p14="http://schemas.microsoft.com/office/powerpoint/2010/main" val="2646097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AF9A9-0D85-127C-6CDD-DA9D9EC3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DF1E80C6-48F2-52F9-2E34-52069D6CF08E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03B7E236-6BD6-568E-971A-74614CCEE40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ACFA2EAF-53F0-27E4-5F15-30F10345BBC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5C833F-35DF-4B3A-3704-6FA9812A4AC3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Stage 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0349F1-0C52-17C2-E65B-D554E06CE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957" y="247173"/>
            <a:ext cx="4376694" cy="4726247"/>
          </a:xfrm>
          <a:prstGeom prst="rect">
            <a:avLst/>
          </a:prstGeom>
          <a:ln>
            <a:solidFill>
              <a:srgbClr val="F7C948"/>
            </a:solidFill>
          </a:ln>
        </p:spPr>
      </p:pic>
    </p:spTree>
    <p:extLst>
      <p:ext uri="{BB962C8B-B14F-4D97-AF65-F5344CB8AC3E}">
        <p14:creationId xmlns:p14="http://schemas.microsoft.com/office/powerpoint/2010/main" val="4157590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C2A62-B70C-2491-D05D-83FE9A061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69717650-E3BC-2027-9174-F6C6C9B0E024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06555FE5-B9BB-A723-1305-7F4D8C26B36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06B7389A-7C9D-4B77-1182-D227F95EBA8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3F6F38-8DB7-6BDF-4299-6C5D33844513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Stage 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1506C-1D69-EE1F-A3CC-0633AD57C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884" y="1340593"/>
            <a:ext cx="5486400" cy="305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63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4E53E-49CD-9866-83F3-F3683F98D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3A843B9A-CB8D-1CBB-10CE-10C1185AB5D9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6408DB67-0961-A67A-8688-B162155DFB3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40B7818F-8C84-56D4-AD31-FE6D9BF3ED8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0DB9B9-BD4E-FCD3-CED2-C1C2C2D9C27D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Dim Tables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F49EAB-A047-951D-C430-C6F3ABD23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1003505"/>
            <a:ext cx="6019800" cy="3733800"/>
          </a:xfrm>
          <a:prstGeom prst="rect">
            <a:avLst/>
          </a:prstGeom>
          <a:ln>
            <a:solidFill>
              <a:srgbClr val="F7C948"/>
            </a:solidFill>
          </a:ln>
        </p:spPr>
      </p:pic>
    </p:spTree>
    <p:extLst>
      <p:ext uri="{BB962C8B-B14F-4D97-AF65-F5344CB8AC3E}">
        <p14:creationId xmlns:p14="http://schemas.microsoft.com/office/powerpoint/2010/main" val="3076240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3779F9-5672-C3BA-381B-CC80F4D3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30AC1D0C-1843-ECBD-A63F-DFFEE3849B47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1DE5BD61-7BCA-15E7-3930-112C14BAB99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5CA1813E-2C37-CEED-3258-1B60522C037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D3F9CC-E143-612C-681A-11C6859CDBB5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Dim Tables2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8228B1-1294-9C9B-A8EE-367B040A7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903" y="588243"/>
            <a:ext cx="6516362" cy="441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273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8896D-94B0-4141-2611-DB8AD637D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8083BA00-5BBD-C9DB-724F-DE3AB2B73486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68EE7790-D565-FEA4-E075-0EB5B3EAAB6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65676FF6-7B0C-B4B5-FF53-C85A14CCE15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98404B-A310-5B32-957E-955F4B1817F9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Dim Tables3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4932F-2BB2-48E2-0E1E-85140AB4D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712" y="820049"/>
            <a:ext cx="536257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38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37793-7B54-73F5-54B5-44B1B754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A84A14A4-BFEB-57B2-E2B5-D434CE3C9297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228C55A9-C42C-A3EF-E845-13BB2C447FB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A5580148-3C4E-5958-502A-3EF84654CDA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3AC534-AD0B-6653-2AE6-FC485DA8FB0A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Fact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923AD8-1B03-1C1E-E3D2-342F2535B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41" y="1376498"/>
            <a:ext cx="3714633" cy="3225866"/>
          </a:xfrm>
          <a:prstGeom prst="rect">
            <a:avLst/>
          </a:prstGeom>
          <a:ln>
            <a:solidFill>
              <a:srgbClr val="FBBF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72C8BC-5A8C-6C0E-AB8D-A0D30F31C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287" y="1376498"/>
            <a:ext cx="5119686" cy="3225866"/>
          </a:xfrm>
          <a:prstGeom prst="rect">
            <a:avLst/>
          </a:prstGeom>
          <a:ln>
            <a:solidFill>
              <a:srgbClr val="FBBF00"/>
            </a:solidFill>
          </a:ln>
        </p:spPr>
      </p:pic>
    </p:spTree>
    <p:extLst>
      <p:ext uri="{BB962C8B-B14F-4D97-AF65-F5344CB8AC3E}">
        <p14:creationId xmlns:p14="http://schemas.microsoft.com/office/powerpoint/2010/main" val="1149305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8A239-3C6D-62DF-B62D-AA321B0F9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379BDF35-A24F-908A-20F5-CE7D71F37F14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88F9D8AC-4EDA-1326-14FA-1918DC7F97B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6FFD7500-E25C-F14F-4D45-83ACD993C29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1BCFF8-F2D9-9AAF-12FF-739638889F10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WIF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CCBACE-7F6D-85C0-F03D-56ABFC748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1325"/>
            <a:ext cx="8137332" cy="44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38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062E20-38F6-D7E0-DE05-8E4EB990C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D852F94-DDB5-6386-865B-43F5931EC4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730"/>
          <a:stretch>
            <a:fillRect/>
          </a:stretch>
        </p:blipFill>
        <p:spPr>
          <a:xfrm>
            <a:off x="461962" y="2644938"/>
            <a:ext cx="7356158" cy="23555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FF9CAA-F852-A450-43EB-5963C443D8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230"/>
          <a:stretch>
            <a:fillRect/>
          </a:stretch>
        </p:blipFill>
        <p:spPr>
          <a:xfrm>
            <a:off x="461963" y="738598"/>
            <a:ext cx="7356158" cy="1643439"/>
          </a:xfrm>
          <a:prstGeom prst="rect">
            <a:avLst/>
          </a:prstGeom>
        </p:spPr>
      </p:pic>
      <p:sp>
        <p:nvSpPr>
          <p:cNvPr id="83" name="crcl">
            <a:extLst>
              <a:ext uri="{FF2B5EF4-FFF2-40B4-BE49-F238E27FC236}">
                <a16:creationId xmlns:a16="http://schemas.microsoft.com/office/drawing/2014/main" id="{7A1EE264-97F2-14FC-ABEB-5499BA7FCFC3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67F56573-208C-099B-57A8-A6C93D58CFB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C788130A-0E02-7D6D-0FD4-ABB3B9B65688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83C8CE-698B-2074-C9AB-9554B4A97DF4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WIF</a:t>
            </a:r>
          </a:p>
        </p:txBody>
      </p:sp>
      <p:sp>
        <p:nvSpPr>
          <p:cNvPr id="7" name="Text 62">
            <a:extLst>
              <a:ext uri="{FF2B5EF4-FFF2-40B4-BE49-F238E27FC236}">
                <a16:creationId xmlns:a16="http://schemas.microsoft.com/office/drawing/2014/main" id="{695B456D-1B72-7204-7EFE-4E6462C3E1A1}"/>
              </a:ext>
            </a:extLst>
          </p:cNvPr>
          <p:cNvSpPr/>
          <p:nvPr/>
        </p:nvSpPr>
        <p:spPr>
          <a:xfrm>
            <a:off x="826770" y="857521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n>
                  <a:solidFill>
                    <a:srgbClr val="FBBF00"/>
                  </a:solidFill>
                </a:ln>
                <a:solidFill>
                  <a:srgbClr val="FFFFFF"/>
                </a:solidFill>
              </a:rPr>
              <a:t>Create Identity Pool</a:t>
            </a:r>
            <a:endParaRPr lang="en-US" sz="1150" dirty="0">
              <a:ln>
                <a:solidFill>
                  <a:srgbClr val="FBBF00"/>
                </a:solidFill>
              </a:ln>
            </a:endParaRPr>
          </a:p>
        </p:txBody>
      </p:sp>
      <p:sp>
        <p:nvSpPr>
          <p:cNvPr id="8" name="Text 68">
            <a:extLst>
              <a:ext uri="{FF2B5EF4-FFF2-40B4-BE49-F238E27FC236}">
                <a16:creationId xmlns:a16="http://schemas.microsoft.com/office/drawing/2014/main" id="{6D65A6AE-3BD1-FB11-6EB8-531D77A5B495}"/>
              </a:ext>
            </a:extLst>
          </p:cNvPr>
          <p:cNvSpPr/>
          <p:nvPr/>
        </p:nvSpPr>
        <p:spPr>
          <a:xfrm>
            <a:off x="826770" y="2751533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n>
                  <a:solidFill>
                    <a:srgbClr val="FBBF00"/>
                  </a:solidFill>
                </a:ln>
                <a:solidFill>
                  <a:srgbClr val="FFFFFF"/>
                </a:solidFill>
              </a:rPr>
              <a:t>Create Identity Provider</a:t>
            </a:r>
            <a:endParaRPr lang="en-US" sz="1150" dirty="0">
              <a:ln>
                <a:solidFill>
                  <a:srgbClr val="FBBF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426017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E924E-859E-296F-3367-B89AB7D49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D8CAA574-BD07-58A7-53DE-1F17A4C50932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12B617F8-233A-50CA-C563-C0DCA05CF3E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35A18230-5FC1-FBEC-5AA8-EFE9BEE6DC5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C0B38A-C6B8-26D2-61FD-93F94D36EAE1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WIF</a:t>
            </a:r>
          </a:p>
        </p:txBody>
      </p:sp>
      <p:sp>
        <p:nvSpPr>
          <p:cNvPr id="6" name="Text 74">
            <a:extLst>
              <a:ext uri="{FF2B5EF4-FFF2-40B4-BE49-F238E27FC236}">
                <a16:creationId xmlns:a16="http://schemas.microsoft.com/office/drawing/2014/main" id="{D164300C-A0F7-FC0A-89AB-61C1AA021FF2}"/>
              </a:ext>
            </a:extLst>
          </p:cNvPr>
          <p:cNvSpPr/>
          <p:nvPr/>
        </p:nvSpPr>
        <p:spPr>
          <a:xfrm>
            <a:off x="521970" y="857521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n>
                  <a:solidFill>
                    <a:srgbClr val="FBBF00"/>
                  </a:solidFill>
                </a:ln>
                <a:solidFill>
                  <a:srgbClr val="FFFFFF"/>
                </a:solidFill>
              </a:rPr>
              <a:t>Create Service Account</a:t>
            </a:r>
            <a:endParaRPr lang="en-US" sz="1150" dirty="0">
              <a:ln>
                <a:solidFill>
                  <a:srgbClr val="FBBF00"/>
                </a:solidFill>
              </a:ln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B78A3F-C1A0-8FA7-B6ED-A6920E78E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499967"/>
            <a:ext cx="5486400" cy="2998186"/>
          </a:xfrm>
          <a:prstGeom prst="rect">
            <a:avLst/>
          </a:prstGeom>
          <a:ln>
            <a:solidFill>
              <a:srgbClr val="FBBF00"/>
            </a:solidFill>
          </a:ln>
        </p:spPr>
      </p:pic>
    </p:spTree>
    <p:extLst>
      <p:ext uri="{BB962C8B-B14F-4D97-AF65-F5344CB8AC3E}">
        <p14:creationId xmlns:p14="http://schemas.microsoft.com/office/powerpoint/2010/main" val="2335059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F9385-D0EA-467C-72A1-83CE523E9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74493C45-2464-0331-920A-69B0967DC715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324BF4CD-246D-BF71-3573-C2ABC2FF179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3B8DECDF-721F-7F11-D8D0-7C67FE41398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E10B83-BC35-0E13-90A1-C69801898476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WIF</a:t>
            </a:r>
          </a:p>
        </p:txBody>
      </p:sp>
      <p:sp>
        <p:nvSpPr>
          <p:cNvPr id="10" name="Text 80">
            <a:extLst>
              <a:ext uri="{FF2B5EF4-FFF2-40B4-BE49-F238E27FC236}">
                <a16:creationId xmlns:a16="http://schemas.microsoft.com/office/drawing/2014/main" id="{DEE24828-FEC8-5752-D2D9-1D0CD0F649FA}"/>
              </a:ext>
            </a:extLst>
          </p:cNvPr>
          <p:cNvSpPr/>
          <p:nvPr/>
        </p:nvSpPr>
        <p:spPr>
          <a:xfrm>
            <a:off x="521970" y="857521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n>
                  <a:solidFill>
                    <a:srgbClr val="FBBF00"/>
                  </a:solidFill>
                </a:ln>
                <a:solidFill>
                  <a:srgbClr val="FFFFFF"/>
                </a:solidFill>
              </a:rPr>
              <a:t>Grant 3 IAM Roles</a:t>
            </a:r>
            <a:endParaRPr lang="en-US" sz="1150" dirty="0">
              <a:ln>
                <a:solidFill>
                  <a:srgbClr val="FBBF00"/>
                </a:solidFill>
              </a:ln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4A55A8-F3AA-2DCC-CB44-C401F82EF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499967"/>
            <a:ext cx="5486400" cy="3069719"/>
          </a:xfrm>
          <a:prstGeom prst="rect">
            <a:avLst/>
          </a:prstGeom>
          <a:ln>
            <a:solidFill>
              <a:srgbClr val="FBBF00"/>
            </a:solidFill>
          </a:ln>
        </p:spPr>
      </p:pic>
    </p:spTree>
    <p:extLst>
      <p:ext uri="{BB962C8B-B14F-4D97-AF65-F5344CB8AC3E}">
        <p14:creationId xmlns:p14="http://schemas.microsoft.com/office/powerpoint/2010/main" val="3427377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5C7DA-F93C-4011-48B7-AE91C2E3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5B1CE857-123B-C568-5ABD-5E1E6A8DD106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78E47018-7C7F-57CC-D949-D377EBDBE86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F5C89A2B-9E0F-83DC-99AB-9E41BF0619E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9B026A-E167-80DC-5B60-4B62FCFBB6A2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WIF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7356F8-7793-92B9-B059-7DCA79FD4C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53"/>
          <a:stretch>
            <a:fillRect/>
          </a:stretch>
        </p:blipFill>
        <p:spPr>
          <a:xfrm>
            <a:off x="98453" y="1796009"/>
            <a:ext cx="8947093" cy="1551482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D27B1133-5CD7-EBAC-C22E-95C477133035}"/>
              </a:ext>
            </a:extLst>
          </p:cNvPr>
          <p:cNvSpPr/>
          <p:nvPr/>
        </p:nvSpPr>
        <p:spPr>
          <a:xfrm>
            <a:off x="379095" y="19081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n>
                  <a:solidFill>
                    <a:srgbClr val="FBBF00"/>
                  </a:solidFill>
                </a:ln>
                <a:solidFill>
                  <a:srgbClr val="FFFFFF"/>
                </a:solidFill>
              </a:rPr>
              <a:t>Bind Provider → Service Account</a:t>
            </a:r>
            <a:endParaRPr lang="en-US" sz="1150" dirty="0">
              <a:ln>
                <a:solidFill>
                  <a:srgbClr val="FBBF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995366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57FCD2-FC79-DA8B-3168-2F6425D9F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54655CE9-48D4-C4B2-B328-C2CFF3282A29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39CCCCBF-28FE-A23F-8F85-1D834E4FA81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5379F734-9E84-ABBB-EC16-1C536F346FB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08ABE2-D61E-16E4-32FC-5E6565DC22B4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Git-Hub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7A9E99-57FD-D1DE-916E-C44CBFF63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7" y="1041122"/>
            <a:ext cx="4722612" cy="3199721"/>
          </a:xfrm>
          <a:prstGeom prst="rect">
            <a:avLst/>
          </a:prstGeom>
          <a:ln>
            <a:solidFill>
              <a:srgbClr val="FBBF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0822BB-B07F-1688-AC23-BCE686229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466" y="2133490"/>
            <a:ext cx="4041129" cy="2725688"/>
          </a:xfrm>
          <a:prstGeom prst="rect">
            <a:avLst/>
          </a:prstGeom>
          <a:ln>
            <a:solidFill>
              <a:srgbClr val="FBBF00"/>
            </a:solidFill>
          </a:ln>
        </p:spPr>
      </p:pic>
    </p:spTree>
    <p:extLst>
      <p:ext uri="{BB962C8B-B14F-4D97-AF65-F5344CB8AC3E}">
        <p14:creationId xmlns:p14="http://schemas.microsoft.com/office/powerpoint/2010/main" val="3201872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96283-9F8B-BB60-ED9B-59EA48D5A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AFC1C356-B176-678C-1779-51307701B0DD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49A6AABF-3BEE-FE03-3110-162737F6E72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692D27C8-22E4-DCAF-DD2A-0C1A39BC635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B72342-D560-BD2D-FD05-0F8213061D26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Schema.yml</a:t>
            </a:r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9A5721-D113-5B5F-CD7D-599B9C498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700" y="820049"/>
            <a:ext cx="3466599" cy="4088196"/>
          </a:xfrm>
          <a:prstGeom prst="rect">
            <a:avLst/>
          </a:prstGeom>
          <a:ln>
            <a:solidFill>
              <a:srgbClr val="FBBF00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6E1A676-D9B9-3F7C-8201-91CC3883680B}"/>
              </a:ext>
            </a:extLst>
          </p:cNvPr>
          <p:cNvSpPr/>
          <p:nvPr/>
        </p:nvSpPr>
        <p:spPr>
          <a:xfrm>
            <a:off x="3568890" y="1781033"/>
            <a:ext cx="1050877" cy="368489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5690A5-9D3A-D11C-6FFA-664B3A60B686}"/>
              </a:ext>
            </a:extLst>
          </p:cNvPr>
          <p:cNvSpPr/>
          <p:nvPr/>
        </p:nvSpPr>
        <p:spPr>
          <a:xfrm>
            <a:off x="3591636" y="3262906"/>
            <a:ext cx="1935707" cy="368489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603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F26D4-E4BD-D5D7-DF1F-BF4F8C8DD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7DE55037-4576-5592-1171-6C1698522F29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F05A0E32-EA1D-BFBC-AE5E-95E9158800E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5E951E55-37C0-2555-D41E-7675890BE54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54D97A-5EC9-7334-7E65-442B2B70705A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Alerts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9CDE21-46C3-EFDE-2562-51768BF40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714" y="820049"/>
            <a:ext cx="4010739" cy="394083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96D0CF6-23BB-C511-21AF-94BF20609643}"/>
              </a:ext>
            </a:extLst>
          </p:cNvPr>
          <p:cNvSpPr/>
          <p:nvPr/>
        </p:nvSpPr>
        <p:spPr>
          <a:xfrm>
            <a:off x="4667269" y="563117"/>
            <a:ext cx="45720" cy="4304068"/>
          </a:xfrm>
          <a:prstGeom prst="rect">
            <a:avLst/>
          </a:prstGeom>
          <a:solidFill>
            <a:srgbClr val="2A2A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B88355-4282-8B01-5F0E-751FED6E1535}"/>
              </a:ext>
            </a:extLst>
          </p:cNvPr>
          <p:cNvSpPr/>
          <p:nvPr/>
        </p:nvSpPr>
        <p:spPr>
          <a:xfrm rot="16200000">
            <a:off x="4734609" y="598138"/>
            <a:ext cx="45720" cy="4304068"/>
          </a:xfrm>
          <a:prstGeom prst="rect">
            <a:avLst/>
          </a:prstGeom>
          <a:solidFill>
            <a:srgbClr val="2A2A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225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8D612-627F-02B0-16A0-A2F037288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976B056D-7DD7-2B37-6FFE-37C708BFCFEF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BC148398-3EF0-479C-BDEE-A795D3A0B29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08FF94D6-A8D4-FCBA-560D-DABFAC5B6F3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FAC850-636A-96BA-AC5E-C2DADB8C8B0D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DAG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47C23E-7729-9D93-FA8C-91344DD878F0}"/>
              </a:ext>
            </a:extLst>
          </p:cNvPr>
          <p:cNvSpPr txBox="1"/>
          <p:nvPr/>
        </p:nvSpPr>
        <p:spPr>
          <a:xfrm>
            <a:off x="919830" y="2280714"/>
            <a:ext cx="75525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hlinkClick r:id="rId4"/>
              </a:rPr>
              <a:t>https://lamiaa-dardeer.github.io/DEPI_Data_Engineering_Graduation_Project/</a:t>
            </a:r>
            <a:endParaRPr lang="ar-EG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BEE3DF-1C6C-E1DB-2400-DA9B4240B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30" y="2749215"/>
            <a:ext cx="7552507" cy="17002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0BD358-9C19-7B10-A8BB-FF8658A1F1AF}"/>
              </a:ext>
            </a:extLst>
          </p:cNvPr>
          <p:cNvSpPr txBox="1"/>
          <p:nvPr/>
        </p:nvSpPr>
        <p:spPr>
          <a:xfrm>
            <a:off x="1756940" y="1602253"/>
            <a:ext cx="51162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dbt docs generate</a:t>
            </a:r>
            <a:r>
              <a:rPr lang="ar-EG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b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dbt docs serve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561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26297-9DA4-A4A0-1B74-BA5D7966F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E68DB71C-08C2-9CFC-CD24-35EE15B24B3E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6E04A983-2129-9133-4223-980D7B34586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81578D8C-DA37-631D-8B50-4072385ED2F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1B8680-FDC9-651A-FFD9-0933AA5591B9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Project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FE90B9-5F0C-36E0-F08F-0835C4306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350" y="895350"/>
            <a:ext cx="35433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92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24D53-8115-5A34-B39A-FE3F3D176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rcl">
            <a:extLst>
              <a:ext uri="{FF2B5EF4-FFF2-40B4-BE49-F238E27FC236}">
                <a16:creationId xmlns:a16="http://schemas.microsoft.com/office/drawing/2014/main" id="{98E34CC3-BA87-B650-9AFF-67A4AA5E00EC}"/>
              </a:ext>
            </a:extLst>
          </p:cNvPr>
          <p:cNvSpPr/>
          <p:nvPr/>
        </p:nvSpPr>
        <p:spPr>
          <a:xfrm>
            <a:off x="7818120" y="-786033"/>
            <a:ext cx="2286000" cy="2286000"/>
          </a:xfrm>
          <a:prstGeom prst="ellipse">
            <a:avLst/>
          </a:prstGeom>
          <a:solidFill>
            <a:srgbClr val="F7C948">
              <a:alpha val="20000"/>
            </a:srgbClr>
          </a:solidFill>
          <a:ln w="12700">
            <a:solidFill>
              <a:srgbClr val="F7C94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Yello-black">
            <a:extLst>
              <a:ext uri="{FF2B5EF4-FFF2-40B4-BE49-F238E27FC236}">
                <a16:creationId xmlns:a16="http://schemas.microsoft.com/office/drawing/2014/main" id="{5FF80A12-1035-8E1A-6C9C-BDAB7F67607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24084" y="0"/>
            <a:ext cx="9392168" cy="34016"/>
          </a:xfrm>
          <a:prstGeom prst="rect">
            <a:avLst/>
          </a:prstGeom>
        </p:spPr>
      </p:pic>
      <p:pic>
        <p:nvPicPr>
          <p:cNvPr id="5" name="Yello-black">
            <a:extLst>
              <a:ext uri="{FF2B5EF4-FFF2-40B4-BE49-F238E27FC236}">
                <a16:creationId xmlns:a16="http://schemas.microsoft.com/office/drawing/2014/main" id="{399FF703-59AD-24AD-5214-222EA994FA0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484"/>
            <a:ext cx="9392168" cy="34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3BB785-AB96-24B6-F035-F1FBDABCF7B9}"/>
              </a:ext>
            </a:extLst>
          </p:cNvPr>
          <p:cNvSpPr txBox="1"/>
          <p:nvPr/>
        </p:nvSpPr>
        <p:spPr>
          <a:xfrm>
            <a:off x="196907" y="169661"/>
            <a:ext cx="511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7C948"/>
                </a:solidFill>
                <a:latin typeface="Cambria" pitchFamily="34" charset="0"/>
                <a:ea typeface="Cambria" pitchFamily="34" charset="-122"/>
              </a:rPr>
              <a:t>Profile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A08CA4-A7EB-557B-2FBB-98324CED9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437" y="1366837"/>
            <a:ext cx="595312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18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1174</TotalTime>
  <Words>1234</Words>
  <Application>Microsoft Office PowerPoint</Application>
  <PresentationFormat>On-screen Show (16:9)</PresentationFormat>
  <Paragraphs>296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Modeling with dbt and BigQuery — NYC 311</dc:title>
  <dc:subject>PptxGenJS Presentation</dc:subject>
  <dc:creator>PptxGenJS</dc:creator>
  <cp:lastModifiedBy>Lamiaa A.Hameed</cp:lastModifiedBy>
  <cp:revision>112</cp:revision>
  <dcterms:created xsi:type="dcterms:W3CDTF">2026-06-09T07:51:35Z</dcterms:created>
  <dcterms:modified xsi:type="dcterms:W3CDTF">2026-06-14T09:31:09Z</dcterms:modified>
</cp:coreProperties>
</file>